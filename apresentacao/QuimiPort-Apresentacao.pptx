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Olá. Meu nome é [seu nome] e vou apresentar o QuimiPort, minha proposta técnica para o Tech Challenge da Fase 1 da Pós-Tech em Full Stack Development. O QuimiPort é um sistema para a gestão de cargas químicas em ambiente portuário, inspirado nas operações do Porto de Santos. Nos próximos minutos, vou percorrer o problema que escolhi, a modelagem do domínio, a arquitetura e o plano de qualidade que desenhei — explicando o raciocínio por trás de cada decisão.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Porto de Santos é um dos maiores do Brasil e movimenta um grande volume de produtos químicos — cargas que exigem controle rigoroso de classificação de risco, documentação obrigatória e acompanhamento técnico. O problema que ataquei é que, hoje, esse controle costuma ser feito de forma manual e descentralizada. Isso dificulta consultar informações, acompanhar o status de cada carga e, principalmente, validar as regras de segurança antes de liberar a carga para movimentação. Como estamos lidando com produtos perigosos, uma falha aqui tem consequência real — e foi esse risco que orientou todas as minhas decisões de modelagem.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solução é o QuimiPort: um sistema que centraliza o ciclo de vida completo da carga química e garante que nenhuma carga seja movimentada sem cumprir as regras obrigatórias de risco, documentação e responsabilidade técnica. Faço questão de delimitar o escopo desta fase: o objetivo não é entregar a aplicação em funcionamento, e sim a base técnica — domínio, regras de negócio, arquitetura e qualidade — que vai sustentar a implementação nas próximas fases. Por isso, o foco desta apresentação é a concepção e a justificativa das decisões.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Mapeei os perfis que interagem com o sistema: o operador portuário, que registra e acompanha as cargas; o responsável técnico, que responde tecnicamente por cada carga; o analista de documentação, que valida os documentos; o analista de qualidade, responsável pelas inspeções; o gestor operacional, com a visão gerencial; e o administrador, que mantém os cadastros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das minhas primeiras decisões foi estabelecer uma linguagem ubíqua — um vocabulário único, usado de forma consistente na documentação, nos diagramas e, futuramente, no próprio código. Na prática, se o negócio diz 'liberar uma carga', o código terá uma operação chamada 'liberar', e não um comando genérico como 'atualizar status'. Isso elimina a tradução com perda entre quem entende do negócio e quem programa — uma das principais fontes de erro em software. Termos como Carga Química, Classe de Risco, Liberar e Bloquear estão todos definidos no glossário do projeto.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Chego ao coração do projeto: a modelagem com Domain-Driven Design. O primeiro passo foi distinguir dois tipos de elemento. As entidades, que têm identidade própria — a Carga Química, o Produto Químico e o Responsável Técnico. E os objetos de valor, definidos apenas pelos seus valores e imutáveis — como a Quantidade e a Classificação de Risco. Modelei a Quantidade de forma que ela só possa existir com valor maior que zero: a regra vira uma propriedade impossível de violar. A decisão central foi eleger a Carga Química como agregado — a raiz que protege as regras. Escolhi a Carga porque praticamente toda regra de segurança precisa avaliar o estado completo dela ao mesmo tempo: status, documentos e validade. Com a Carga como raiz, toda liberação, bloqueio ou movimentação passa por ela, que confere as condições antes de agir — é o mesmo princípio da liberação de um lote no controle de qualidade. E como o Produto e o Responsável têm ciclo de vida próprio, a Carga os referencia apenas por um identificador, o que mantém as fronteiras bem definidas.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partir do modelo, mapeei os casos de uso — as operações do sistema, como registrar carga, validar documentação, solicitar inspeção, liberar, bloquear e cancelar. Os mais críticos são Registrar Carga e Liberar Carga, porque concentram as regras de segurança.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as regras de negócio, uma decisão de projeto importante foi definir onde cada regra vive. Regras que dependem apenas de um valor, como quantidade maior que zero, ficam no próprio objeto de valor. Regras internas da carga, como só liberar com documentação válida, ficam na Carga. E regras que dependem de outra informação, como não registrar carga com produto inativo, ficam no caso de uso, que busca o produto para verificar. O critério é simples: se preciso buscar outro agregado para checar a regra, ela é caso de uso; senão, é domínio. Isso evita que a lógica se espalhe e se contradiga pelo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arquitetura está organizada em camadas. No centro, o domínio, que concentra as regras de negócio e não conhece banco de dados nem interface. Em volta, a aplicação, com os casos de uso que orquestram o domínio. E na borda, a infraestrutura, com os detalhes técnicos. O princípio que sustenta essa separação é a regra de dependência: as camadas externas dependem das internas, nunca o contrário. O domínio declara do que precisa por meio de interfaces, e a infraestrutura fornece a implementação — o que se chama inversão de dependência. Isso me dá dois ganhos concretos: consigo testar as regras de negócio sem subir um banco de dados, e consigo trocar a tecnologia sem tocar no núcleo do negócio.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as decisões de linguagem: todo o núcleo será escrito em TypeScript, com tipagem forte, para que erros sejam detectados já na escrita, e não em produção. Usei enums para representar conjuntos fixos, como os status da carga e as classes de risco, o que elimina valores inválidos. Modelei os objetos de valor como estruturas imutáveis e autovalidáveis. E, para o tratamento de erros, adotei um tipo de resultado explícito, separando as falhas esperadas do negócio — como uma documentação faltando — das falhas técnicas excepcionais. Essas escolhas deixam o código previsível e fiel ao domínio.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é o fluxo de status da carga. Ela nasce Registrada e pode ir para Em Inspeção, Liberada, Bloqueada ou Cancelada. Apenas certas transições são permitidas: uma carga Cancelada, por exemplo, é um estado final e nunca volta a ser liberada. Modelei isso como uma máquina de estados justamente para tornar as transições inválidas impossíveis. E note que 'movimentar' é uma ação sobre a carga já Liberada, não um estado novo.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plano de qualidade, defini uma estratégia de testes em pirâmide: muitos testes unitários e rápidos nas regras do domínio, testes de integração nos casos de uso e testes de ponta a ponta nas fases futuras. Como o domínio é isolado, ele é simples de testar. Priorizei os cenários mais críticos, como não liberar uma carga sem documentação e não movimentar uma carga bloqueada.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encerrar, o roadmap de evolução. Esta fase entrega o núcleo pensado e documentado. Nas próximas, o projeto avança para a implementação em TypeScript, os testes automatizados, o backend com uma API, a persistência em banco de dados, o frontend web e, mais adiante, mobile e uma possível divisão em microsserviços — sempre reaproveitando a base que defini aqui. Foi assim que conectei um problema real do porto aos conceitos da fase para planejar uma solução full stack consistente e evolutiva. Obrigado!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414D"/>
        </a:solidFill>
      </p:bgPr>
    </p:bg>
    <p:spTree>
      <p:nvGrpSpPr>
        <p:cNvPr id="1" name=""/>
        <p:cNvGrpSpPr/>
        <p:nvPr/>
      </p:nvGrpSpPr>
      <p:grpSpPr>
        <a:xfrm>
          <a:off x="0" y="0"/>
          <a:ext cx="0" cy="0"/>
          <a:chOff x="0" y="0"/>
          <a:chExt cx="0" cy="0"/>
        </a:xfrm>
      </p:grpSpPr>
      <p:sp>
        <p:nvSpPr>
          <p:cNvPr id="2" name="Text 0"/>
          <p:cNvSpPr txBox="1"/>
          <p:nvPr/>
        </p:nvSpPr>
        <p:spPr>
          <a:xfrm>
            <a:off x="822960" y="1920240"/>
            <a:ext cx="10515600" cy="365760"/>
          </a:xfrm>
          <a:prstGeom prst="rect">
            <a:avLst/>
          </a:prstGeom>
          <a:noFill/>
          <a:ln/>
        </p:spPr>
        <p:txBody>
          <a:bodyPr wrap="square" lIns="0" tIns="0" rIns="0" bIns="0" rtlCol="0" anchor="ctr"/>
          <a:lstStyle/>
          <a:p>
            <a:pPr indent="0" marL="0">
              <a:buNone/>
            </a:pPr>
            <a:r>
              <a:rPr lang="en-US" sz="1300" b="1" spc="300" kern="0" dirty="0">
                <a:solidFill>
                  <a:srgbClr val="9FC3CC"/>
                </a:solidFill>
                <a:latin typeface="Calibri" pitchFamily="34" charset="0"/>
                <a:ea typeface="Calibri" pitchFamily="34" charset="-122"/>
                <a:cs typeface="Calibri" pitchFamily="34" charset="-120"/>
              </a:rPr>
              <a:t>TECH CHALLENGE · FASE 1 — PÓS-TECH FULL STACK DEVELOPMENT</a:t>
            </a:r>
            <a:endParaRPr lang="en-US" sz="1300" dirty="0"/>
          </a:p>
        </p:txBody>
      </p:sp>
      <p:sp>
        <p:nvSpPr>
          <p:cNvPr id="3" name="Text 1"/>
          <p:cNvSpPr txBox="1"/>
          <p:nvPr/>
        </p:nvSpPr>
        <p:spPr>
          <a:xfrm>
            <a:off x="777240" y="2286000"/>
            <a:ext cx="10515600" cy="128016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QuimiPort</a:t>
            </a:r>
            <a:endParaRPr lang="en-US" sz="8000" dirty="0"/>
          </a:p>
        </p:txBody>
      </p:sp>
      <p:sp>
        <p:nvSpPr>
          <p:cNvPr id="4" name="Text 2"/>
          <p:cNvSpPr txBox="1"/>
          <p:nvPr/>
        </p:nvSpPr>
        <p:spPr>
          <a:xfrm>
            <a:off x="822960" y="3611880"/>
            <a:ext cx="10515600" cy="640080"/>
          </a:xfrm>
          <a:prstGeom prst="rect">
            <a:avLst/>
          </a:prstGeom>
          <a:noFill/>
          <a:ln/>
        </p:spPr>
        <p:txBody>
          <a:bodyPr wrap="square" lIns="0" tIns="0" rIns="0" bIns="0" rtlCol="0" anchor="ctr"/>
          <a:lstStyle/>
          <a:p>
            <a:pPr indent="0" marL="0">
              <a:buNone/>
            </a:pPr>
            <a:r>
              <a:rPr lang="en-US" sz="2600" dirty="0">
                <a:solidFill>
                  <a:srgbClr val="CFE0E4"/>
                </a:solidFill>
                <a:latin typeface="Calibri" pitchFamily="34" charset="0"/>
                <a:ea typeface="Calibri" pitchFamily="34" charset="-122"/>
                <a:cs typeface="Calibri" pitchFamily="34" charset="-120"/>
              </a:rPr>
              <a:t>Gestão de Cargas Químicas Portuárias</a:t>
            </a:r>
            <a:endParaRPr lang="en-US" sz="2600" dirty="0"/>
          </a:p>
        </p:txBody>
      </p:sp>
      <p:sp>
        <p:nvSpPr>
          <p:cNvPr id="5" name="Text 3"/>
          <p:cNvSpPr txBox="1"/>
          <p:nvPr/>
        </p:nvSpPr>
        <p:spPr>
          <a:xfrm>
            <a:off x="822960" y="4297680"/>
            <a:ext cx="10515600" cy="457200"/>
          </a:xfrm>
          <a:prstGeom prst="rect">
            <a:avLst/>
          </a:prstGeom>
          <a:noFill/>
          <a:ln/>
        </p:spPr>
        <p:txBody>
          <a:bodyPr wrap="square" lIns="0" tIns="0" rIns="0" bIns="0" rtlCol="0" anchor="ctr"/>
          <a:lstStyle/>
          <a:p>
            <a:pPr indent="0" marL="0">
              <a:buNone/>
            </a:pPr>
            <a:r>
              <a:rPr lang="en-US" sz="1500" dirty="0">
                <a:solidFill>
                  <a:srgbClr val="8FB2BB"/>
                </a:solidFill>
                <a:latin typeface="Calibri" pitchFamily="34" charset="0"/>
                <a:ea typeface="Calibri" pitchFamily="34" charset="-122"/>
                <a:cs typeface="Calibri" pitchFamily="34" charset="-120"/>
              </a:rPr>
              <a:t>Proposta técnica e arquitetural  ·  Domain-Driven Design + TypeScript</a:t>
            </a:r>
            <a:endParaRPr lang="en-US" sz="1500" dirty="0"/>
          </a:p>
        </p:txBody>
      </p:sp>
      <p:sp>
        <p:nvSpPr>
          <p:cNvPr id="6" name="Text 4"/>
          <p:cNvSpPr txBox="1"/>
          <p:nvPr/>
        </p:nvSpPr>
        <p:spPr>
          <a:xfrm>
            <a:off x="822960" y="5852160"/>
            <a:ext cx="10515600" cy="365760"/>
          </a:xfrm>
          <a:prstGeom prst="rect">
            <a:avLst/>
          </a:prstGeom>
          <a:noFill/>
          <a:ln/>
        </p:spPr>
        <p:txBody>
          <a:bodyPr wrap="square" lIns="0" tIns="0" rIns="0" bIns="0" rtlCol="0" anchor="ctr"/>
          <a:lstStyle/>
          <a:p>
            <a:pPr indent="0" marL="0">
              <a:buNone/>
            </a:pPr>
            <a:r>
              <a:rPr lang="en-US" sz="1400" dirty="0">
                <a:solidFill>
                  <a:srgbClr val="BCD3D8"/>
                </a:solidFill>
                <a:latin typeface="Calibri" pitchFamily="34" charset="0"/>
                <a:ea typeface="Calibri" pitchFamily="34" charset="-122"/>
                <a:cs typeface="Calibri" pitchFamily="34" charset="-120"/>
              </a:rPr>
              <a:t>[Seu nome] — RM [seu RM]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E6E7E"/>
                </a:solidFill>
                <a:latin typeface="Calibri" pitchFamily="34" charset="0"/>
                <a:ea typeface="Calibri" pitchFamily="34" charset="-122"/>
                <a:cs typeface="Calibri" pitchFamily="34" charset="-120"/>
              </a:rPr>
              <a:t>O PROBLEMA E O CONTEXTO</a:t>
            </a:r>
            <a:endParaRPr lang="en-US" sz="1200" dirty="0"/>
          </a:p>
        </p:txBody>
      </p:sp>
      <p:sp>
        <p:nvSpPr>
          <p:cNvPr id="3" name="Text 1"/>
          <p:cNvSpPr txBox="1"/>
          <p:nvPr/>
        </p:nvSpPr>
        <p:spPr>
          <a:xfrm>
            <a:off x="640080" y="749808"/>
            <a:ext cx="10881360" cy="822960"/>
          </a:xfrm>
          <a:prstGeom prst="rect">
            <a:avLst/>
          </a:prstGeom>
          <a:noFill/>
          <a:ln/>
        </p:spPr>
        <p:txBody>
          <a:bodyPr wrap="square" lIns="0" tIns="0" rIns="0" bIns="0" rtlCol="0" anchor="ctr"/>
          <a:lstStyle/>
          <a:p>
            <a:pPr indent="0" marL="0">
              <a:buNone/>
            </a:pPr>
            <a:r>
              <a:rPr lang="en-US" sz="3400" b="1" dirty="0">
                <a:solidFill>
                  <a:srgbClr val="12414D"/>
                </a:solidFill>
                <a:latin typeface="Calibri" pitchFamily="34" charset="0"/>
                <a:ea typeface="Calibri" pitchFamily="34" charset="-122"/>
                <a:cs typeface="Calibri" pitchFamily="34" charset="-120"/>
              </a:rPr>
              <a:t>Por que o QuimiPort existe</a:t>
            </a:r>
            <a:endParaRPr lang="en-US" sz="3400" dirty="0"/>
          </a:p>
        </p:txBody>
      </p:sp>
      <p:sp>
        <p:nvSpPr>
          <p:cNvPr id="4" name="Shape 2"/>
          <p:cNvSpPr/>
          <p:nvPr/>
        </p:nvSpPr>
        <p:spPr>
          <a:xfrm>
            <a:off x="640080" y="1965960"/>
            <a:ext cx="10881360" cy="1234440"/>
          </a:xfrm>
          <a:prstGeom prst="roundRect">
            <a:avLst>
              <a:gd name="adj" fmla="val 6667"/>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5" name="Shape 3"/>
          <p:cNvSpPr/>
          <p:nvPr/>
        </p:nvSpPr>
        <p:spPr>
          <a:xfrm>
            <a:off x="914400" y="2295144"/>
            <a:ext cx="566928" cy="566928"/>
          </a:xfrm>
          <a:prstGeom prst="ellipse">
            <a:avLst/>
          </a:prstGeom>
          <a:solidFill>
            <a:srgbClr val="12414D"/>
          </a:solidFill>
          <a:ln w="12700">
            <a:solidFill>
              <a:srgbClr val="12414D"/>
            </a:solidFill>
            <a:prstDash val="solid"/>
          </a:ln>
        </p:spPr>
      </p:sp>
      <p:sp>
        <p:nvSpPr>
          <p:cNvPr id="6" name="Text 4"/>
          <p:cNvSpPr txBox="1"/>
          <p:nvPr/>
        </p:nvSpPr>
        <p:spPr>
          <a:xfrm>
            <a:off x="914400" y="22951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1691640" y="2167128"/>
            <a:ext cx="9509760" cy="411480"/>
          </a:xfrm>
          <a:prstGeom prst="rect">
            <a:avLst/>
          </a:prstGeom>
          <a:noFill/>
          <a:ln/>
        </p:spPr>
        <p:txBody>
          <a:bodyPr wrap="square" lIns="0" tIns="0" rIns="0" bIns="0" rtlCol="0" anchor="ctr"/>
          <a:lstStyle/>
          <a:p>
            <a:pPr indent="0" marL="0">
              <a:buNone/>
            </a:pPr>
            <a:r>
              <a:rPr lang="en-US" sz="1900" b="1" dirty="0">
                <a:solidFill>
                  <a:srgbClr val="1F2A30"/>
                </a:solidFill>
                <a:latin typeface="Calibri" pitchFamily="34" charset="0"/>
                <a:ea typeface="Calibri" pitchFamily="34" charset="-122"/>
                <a:cs typeface="Calibri" pitchFamily="34" charset="-120"/>
              </a:rPr>
              <a:t>Registro manual e descentralizado</a:t>
            </a:r>
            <a:endParaRPr lang="en-US" sz="1900" dirty="0"/>
          </a:p>
        </p:txBody>
      </p:sp>
      <p:sp>
        <p:nvSpPr>
          <p:cNvPr id="8" name="Text 6"/>
          <p:cNvSpPr txBox="1"/>
          <p:nvPr/>
        </p:nvSpPr>
        <p:spPr>
          <a:xfrm>
            <a:off x="1691640" y="2569464"/>
            <a:ext cx="9509760" cy="457200"/>
          </a:xfrm>
          <a:prstGeom prst="rect">
            <a:avLst/>
          </a:prstGeom>
          <a:noFill/>
          <a:ln/>
        </p:spPr>
        <p:txBody>
          <a:bodyPr wrap="square" lIns="0" tIns="0" rIns="0" bIns="0" rtlCol="0" anchor="ctr"/>
          <a:lstStyle/>
          <a:p>
            <a:pPr indent="0" marL="0">
              <a:buNone/>
            </a:pPr>
            <a:r>
              <a:rPr lang="en-US" sz="1400" dirty="0">
                <a:solidFill>
                  <a:srgbClr val="5A6A72"/>
                </a:solidFill>
                <a:latin typeface="Calibri" pitchFamily="34" charset="0"/>
                <a:ea typeface="Calibri" pitchFamily="34" charset="-122"/>
                <a:cs typeface="Calibri" pitchFamily="34" charset="-120"/>
              </a:rPr>
              <a:t>Hoje o controle das cargas é feito à mão e em planilhas dispersas.</a:t>
            </a:r>
            <a:endParaRPr lang="en-US" sz="1400" dirty="0"/>
          </a:p>
        </p:txBody>
      </p:sp>
      <p:sp>
        <p:nvSpPr>
          <p:cNvPr id="9" name="Shape 7"/>
          <p:cNvSpPr/>
          <p:nvPr/>
        </p:nvSpPr>
        <p:spPr>
          <a:xfrm>
            <a:off x="640080" y="3429000"/>
            <a:ext cx="10881360" cy="1234440"/>
          </a:xfrm>
          <a:prstGeom prst="roundRect">
            <a:avLst>
              <a:gd name="adj" fmla="val 6667"/>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10" name="Shape 8"/>
          <p:cNvSpPr/>
          <p:nvPr/>
        </p:nvSpPr>
        <p:spPr>
          <a:xfrm>
            <a:off x="914400" y="3758184"/>
            <a:ext cx="566928" cy="566928"/>
          </a:xfrm>
          <a:prstGeom prst="ellipse">
            <a:avLst/>
          </a:prstGeom>
          <a:solidFill>
            <a:srgbClr val="12414D"/>
          </a:solidFill>
          <a:ln w="12700">
            <a:solidFill>
              <a:srgbClr val="12414D"/>
            </a:solidFill>
            <a:prstDash val="solid"/>
          </a:ln>
        </p:spPr>
      </p:sp>
      <p:sp>
        <p:nvSpPr>
          <p:cNvPr id="11" name="Text 9"/>
          <p:cNvSpPr txBox="1"/>
          <p:nvPr/>
        </p:nvSpPr>
        <p:spPr>
          <a:xfrm>
            <a:off x="914400" y="375818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1691640" y="3630168"/>
            <a:ext cx="9509760" cy="411480"/>
          </a:xfrm>
          <a:prstGeom prst="rect">
            <a:avLst/>
          </a:prstGeom>
          <a:noFill/>
          <a:ln/>
        </p:spPr>
        <p:txBody>
          <a:bodyPr wrap="square" lIns="0" tIns="0" rIns="0" bIns="0" rtlCol="0" anchor="ctr"/>
          <a:lstStyle/>
          <a:p>
            <a:pPr indent="0" marL="0">
              <a:buNone/>
            </a:pPr>
            <a:r>
              <a:rPr lang="en-US" sz="1900" b="1" dirty="0">
                <a:solidFill>
                  <a:srgbClr val="1F2A30"/>
                </a:solidFill>
                <a:latin typeface="Calibri" pitchFamily="34" charset="0"/>
                <a:ea typeface="Calibri" pitchFamily="34" charset="-122"/>
                <a:cs typeface="Calibri" pitchFamily="34" charset="-120"/>
              </a:rPr>
              <a:t>Difícil acompanhar e consultar</a:t>
            </a:r>
            <a:endParaRPr lang="en-US" sz="1900" dirty="0"/>
          </a:p>
        </p:txBody>
      </p:sp>
      <p:sp>
        <p:nvSpPr>
          <p:cNvPr id="13" name="Text 11"/>
          <p:cNvSpPr txBox="1"/>
          <p:nvPr/>
        </p:nvSpPr>
        <p:spPr>
          <a:xfrm>
            <a:off x="1691640" y="4032504"/>
            <a:ext cx="9509760" cy="457200"/>
          </a:xfrm>
          <a:prstGeom prst="rect">
            <a:avLst/>
          </a:prstGeom>
          <a:noFill/>
          <a:ln/>
        </p:spPr>
        <p:txBody>
          <a:bodyPr wrap="square" lIns="0" tIns="0" rIns="0" bIns="0" rtlCol="0" anchor="ctr"/>
          <a:lstStyle/>
          <a:p>
            <a:pPr indent="0" marL="0">
              <a:buNone/>
            </a:pPr>
            <a:r>
              <a:rPr lang="en-US" sz="1400" dirty="0">
                <a:solidFill>
                  <a:srgbClr val="5A6A72"/>
                </a:solidFill>
                <a:latin typeface="Calibri" pitchFamily="34" charset="0"/>
                <a:ea typeface="Calibri" pitchFamily="34" charset="-122"/>
                <a:cs typeface="Calibri" pitchFamily="34" charset="-120"/>
              </a:rPr>
              <a:t>Status e informações ficam espalhados, sem uma visão única.</a:t>
            </a:r>
            <a:endParaRPr lang="en-US" sz="1400" dirty="0"/>
          </a:p>
        </p:txBody>
      </p:sp>
      <p:sp>
        <p:nvSpPr>
          <p:cNvPr id="14" name="Shape 12"/>
          <p:cNvSpPr/>
          <p:nvPr/>
        </p:nvSpPr>
        <p:spPr>
          <a:xfrm>
            <a:off x="640080" y="4892040"/>
            <a:ext cx="10881360" cy="1234440"/>
          </a:xfrm>
          <a:prstGeom prst="roundRect">
            <a:avLst>
              <a:gd name="adj" fmla="val 6667"/>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15" name="Shape 13"/>
          <p:cNvSpPr/>
          <p:nvPr/>
        </p:nvSpPr>
        <p:spPr>
          <a:xfrm>
            <a:off x="914400" y="5221224"/>
            <a:ext cx="566928" cy="566928"/>
          </a:xfrm>
          <a:prstGeom prst="ellipse">
            <a:avLst/>
          </a:prstGeom>
          <a:solidFill>
            <a:srgbClr val="12414D"/>
          </a:solidFill>
          <a:ln w="12700">
            <a:solidFill>
              <a:srgbClr val="12414D"/>
            </a:solidFill>
            <a:prstDash val="solid"/>
          </a:ln>
        </p:spPr>
      </p:sp>
      <p:sp>
        <p:nvSpPr>
          <p:cNvPr id="16" name="Text 14"/>
          <p:cNvSpPr txBox="1"/>
          <p:nvPr/>
        </p:nvSpPr>
        <p:spPr>
          <a:xfrm>
            <a:off x="914400" y="522122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1691640" y="5093208"/>
            <a:ext cx="9509760" cy="411480"/>
          </a:xfrm>
          <a:prstGeom prst="rect">
            <a:avLst/>
          </a:prstGeom>
          <a:noFill/>
          <a:ln/>
        </p:spPr>
        <p:txBody>
          <a:bodyPr wrap="square" lIns="0" tIns="0" rIns="0" bIns="0" rtlCol="0" anchor="ctr"/>
          <a:lstStyle/>
          <a:p>
            <a:pPr indent="0" marL="0">
              <a:buNone/>
            </a:pPr>
            <a:r>
              <a:rPr lang="en-US" sz="1900" b="1" dirty="0">
                <a:solidFill>
                  <a:srgbClr val="1F2A30"/>
                </a:solidFill>
                <a:latin typeface="Calibri" pitchFamily="34" charset="0"/>
                <a:ea typeface="Calibri" pitchFamily="34" charset="-122"/>
                <a:cs typeface="Calibri" pitchFamily="34" charset="-120"/>
              </a:rPr>
              <a:t>Risco de segurança</a:t>
            </a:r>
            <a:endParaRPr lang="en-US" sz="1900" dirty="0"/>
          </a:p>
        </p:txBody>
      </p:sp>
      <p:sp>
        <p:nvSpPr>
          <p:cNvPr id="18" name="Text 16"/>
          <p:cNvSpPr txBox="1"/>
          <p:nvPr/>
        </p:nvSpPr>
        <p:spPr>
          <a:xfrm>
            <a:off x="1691640" y="5495544"/>
            <a:ext cx="9509760" cy="457200"/>
          </a:xfrm>
          <a:prstGeom prst="rect">
            <a:avLst/>
          </a:prstGeom>
          <a:noFill/>
          <a:ln/>
        </p:spPr>
        <p:txBody>
          <a:bodyPr wrap="square" lIns="0" tIns="0" rIns="0" bIns="0" rtlCol="0" anchor="ctr"/>
          <a:lstStyle/>
          <a:p>
            <a:pPr indent="0" marL="0">
              <a:buNone/>
            </a:pPr>
            <a:r>
              <a:rPr lang="en-US" sz="1400" dirty="0">
                <a:solidFill>
                  <a:srgbClr val="5A6A72"/>
                </a:solidFill>
                <a:latin typeface="Calibri" pitchFamily="34" charset="0"/>
                <a:ea typeface="Calibri" pitchFamily="34" charset="-122"/>
                <a:cs typeface="Calibri" pitchFamily="34" charset="-120"/>
              </a:rPr>
              <a:t>Carga perigosa pode se mover sem risco classificado, documentação ou responsável técnico.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E6E7E"/>
                </a:solidFill>
                <a:latin typeface="Calibri" pitchFamily="34" charset="0"/>
                <a:ea typeface="Calibri" pitchFamily="34" charset="-122"/>
                <a:cs typeface="Calibri" pitchFamily="34" charset="-120"/>
              </a:rPr>
              <a:t>A PROPOSTA</a:t>
            </a:r>
            <a:endParaRPr lang="en-US" sz="1200" dirty="0"/>
          </a:p>
        </p:txBody>
      </p:sp>
      <p:sp>
        <p:nvSpPr>
          <p:cNvPr id="3" name="Text 1"/>
          <p:cNvSpPr txBox="1"/>
          <p:nvPr/>
        </p:nvSpPr>
        <p:spPr>
          <a:xfrm>
            <a:off x="640080" y="749808"/>
            <a:ext cx="10881360" cy="822960"/>
          </a:xfrm>
          <a:prstGeom prst="rect">
            <a:avLst/>
          </a:prstGeom>
          <a:noFill/>
          <a:ln/>
        </p:spPr>
        <p:txBody>
          <a:bodyPr wrap="square" lIns="0" tIns="0" rIns="0" bIns="0" rtlCol="0" anchor="ctr"/>
          <a:lstStyle/>
          <a:p>
            <a:pPr indent="0" marL="0">
              <a:buNone/>
            </a:pPr>
            <a:r>
              <a:rPr lang="en-US" sz="3400" b="1" dirty="0">
                <a:solidFill>
                  <a:srgbClr val="12414D"/>
                </a:solidFill>
                <a:latin typeface="Calibri" pitchFamily="34" charset="0"/>
                <a:ea typeface="Calibri" pitchFamily="34" charset="-122"/>
                <a:cs typeface="Calibri" pitchFamily="34" charset="-120"/>
              </a:rPr>
              <a:t>A solução: QuimiPort</a:t>
            </a:r>
            <a:endParaRPr lang="en-US" sz="3400" dirty="0"/>
          </a:p>
        </p:txBody>
      </p:sp>
      <p:sp>
        <p:nvSpPr>
          <p:cNvPr id="4" name="Text 2"/>
          <p:cNvSpPr txBox="1"/>
          <p:nvPr/>
        </p:nvSpPr>
        <p:spPr>
          <a:xfrm>
            <a:off x="640080" y="1828800"/>
            <a:ext cx="10881360" cy="1188720"/>
          </a:xfrm>
          <a:prstGeom prst="rect">
            <a:avLst/>
          </a:prstGeom>
          <a:noFill/>
          <a:ln/>
        </p:spPr>
        <p:txBody>
          <a:bodyPr wrap="square" lIns="0" tIns="0" rIns="0" bIns="0" rtlCol="0" anchor="ctr"/>
          <a:lstStyle/>
          <a:p>
            <a:pPr indent="0" marL="0">
              <a:lnSpc>
                <a:spcPct val="115000"/>
              </a:lnSpc>
              <a:buNone/>
            </a:pPr>
            <a:r>
              <a:rPr lang="en-US" sz="2200" dirty="0">
                <a:solidFill>
                  <a:srgbClr val="1F2A30"/>
                </a:solidFill>
                <a:latin typeface="Calibri" pitchFamily="34" charset="0"/>
                <a:ea typeface="Calibri" pitchFamily="34" charset="-122"/>
                <a:cs typeface="Calibri" pitchFamily="34" charset="-120"/>
              </a:rPr>
              <a:t>Centralizar o ciclo de vida completo da carga química e garantir que nenhuma carga se movimente sem risco classificado, documentação em dia e responsável técnico.</a:t>
            </a:r>
            <a:endParaRPr lang="en-US" sz="2200" dirty="0"/>
          </a:p>
        </p:txBody>
      </p:sp>
      <p:sp>
        <p:nvSpPr>
          <p:cNvPr id="5" name="Shape 3"/>
          <p:cNvSpPr/>
          <p:nvPr/>
        </p:nvSpPr>
        <p:spPr>
          <a:xfrm>
            <a:off x="640080" y="3383280"/>
            <a:ext cx="10881360" cy="2194560"/>
          </a:xfrm>
          <a:prstGeom prst="roundRect">
            <a:avLst>
              <a:gd name="adj" fmla="val 3750"/>
            </a:avLst>
          </a:prstGeom>
          <a:solidFill>
            <a:srgbClr val="EAF1F2"/>
          </a:solidFill>
          <a:ln w="12700">
            <a:solidFill>
              <a:srgbClr val="BCD3D8"/>
            </a:solidFill>
            <a:prstDash val="solid"/>
          </a:ln>
          <a:effectLst>
            <a:outerShdw sx="100000" sy="100000" kx="0" ky="0" algn="bl" rotWithShape="0" blurRad="76200" dist="25400" dir="5400000">
              <a:srgbClr val="9AA7AD">
                <a:alpha val="35000"/>
              </a:srgbClr>
            </a:outerShdw>
          </a:effectLst>
        </p:spPr>
      </p:sp>
      <p:sp>
        <p:nvSpPr>
          <p:cNvPr id="6" name="Text 4"/>
          <p:cNvSpPr txBox="1"/>
          <p:nvPr/>
        </p:nvSpPr>
        <p:spPr>
          <a:xfrm>
            <a:off x="1005840" y="3657600"/>
            <a:ext cx="10058400" cy="320040"/>
          </a:xfrm>
          <a:prstGeom prst="rect">
            <a:avLst/>
          </a:prstGeom>
          <a:noFill/>
          <a:ln/>
        </p:spPr>
        <p:txBody>
          <a:bodyPr wrap="square" lIns="0" tIns="0" rIns="0" bIns="0" rtlCol="0" anchor="ctr"/>
          <a:lstStyle/>
          <a:p>
            <a:pPr indent="0" marL="0">
              <a:buNone/>
            </a:pPr>
            <a:r>
              <a:rPr lang="en-US" sz="1300" b="1" spc="300" kern="0" dirty="0">
                <a:solidFill>
                  <a:srgbClr val="2E6E7E"/>
                </a:solidFill>
                <a:latin typeface="Calibri" pitchFamily="34" charset="0"/>
                <a:ea typeface="Calibri" pitchFamily="34" charset="-122"/>
                <a:cs typeface="Calibri" pitchFamily="34" charset="-120"/>
              </a:rPr>
              <a:t>ESCOPO DA FASE 1</a:t>
            </a:r>
            <a:endParaRPr lang="en-US" sz="1300" dirty="0"/>
          </a:p>
        </p:txBody>
      </p:sp>
      <p:sp>
        <p:nvSpPr>
          <p:cNvPr id="7" name="Text 5"/>
          <p:cNvSpPr txBox="1"/>
          <p:nvPr/>
        </p:nvSpPr>
        <p:spPr>
          <a:xfrm>
            <a:off x="1005840" y="4069080"/>
            <a:ext cx="10058400" cy="137160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1F2A30"/>
                </a:solidFill>
                <a:latin typeface="Calibri" pitchFamily="34" charset="0"/>
                <a:ea typeface="Calibri" pitchFamily="34" charset="-122"/>
                <a:cs typeface="Calibri" pitchFamily="34" charset="-120"/>
              </a:rPr>
              <a:t>Não é entregar a aplicação em funcionamento.</a:t>
            </a:r>
            <a:endParaRPr lang="en-US" sz="1600" dirty="0"/>
          </a:p>
          <a:p>
            <a:pPr marL="342900" indent="-342900">
              <a:spcAft>
                <a:spcPts val="800"/>
              </a:spcAft>
              <a:buSzPct val="100000"/>
              <a:buChar char="•"/>
            </a:pPr>
            <a:r>
              <a:rPr lang="en-US" sz="1600" dirty="0">
                <a:solidFill>
                  <a:srgbClr val="1F2A30"/>
                </a:solidFill>
                <a:latin typeface="Calibri" pitchFamily="34" charset="0"/>
                <a:ea typeface="Calibri" pitchFamily="34" charset="-122"/>
                <a:cs typeface="Calibri" pitchFamily="34" charset="-120"/>
              </a:rPr>
              <a:t>É a base técnica: domínio, regras de negócio, arquitetura e plano de qualidade.</a:t>
            </a:r>
            <a:endParaRPr lang="en-US" sz="1600" dirty="0"/>
          </a:p>
          <a:p>
            <a:pPr marL="342900" indent="-342900">
              <a:buSzPct val="100000"/>
              <a:buChar char="•"/>
            </a:pPr>
            <a:r>
              <a:rPr lang="en-US" sz="1600" dirty="0">
                <a:solidFill>
                  <a:srgbClr val="1F2A30"/>
                </a:solidFill>
                <a:latin typeface="Calibri" pitchFamily="34" charset="0"/>
                <a:ea typeface="Calibri" pitchFamily="34" charset="-122"/>
                <a:cs typeface="Calibri" pitchFamily="34" charset="-120"/>
              </a:rPr>
              <a:t>Foco na concepção e na justificativa das decisões — o núcleo que sustenta as próximas fases.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7"/>
        </a:solidFill>
      </p:bgPr>
    </p:bg>
    <p:spTree>
      <p:nvGrpSpPr>
        <p:cNvPr id="1" name=""/>
        <p:cNvGrpSpPr/>
        <p:nvPr/>
      </p:nvGrpSpPr>
      <p:grpSpPr>
        <a:xfrm>
          <a:off x="0" y="0"/>
          <a:ext cx="0" cy="0"/>
          <a:chOff x="0" y="0"/>
          <a:chExt cx="0" cy="0"/>
        </a:xfrm>
      </p:grpSpPr>
      <p:pic>
        <p:nvPicPr>
          <p:cNvPr id="2" name="Image 0" descr="img/contexto.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E6E7E"/>
                </a:solidFill>
                <a:latin typeface="Calibri" pitchFamily="34" charset="0"/>
                <a:ea typeface="Calibri" pitchFamily="34" charset="-122"/>
                <a:cs typeface="Calibri" pitchFamily="34" charset="-120"/>
              </a:rPr>
              <a:t>DOMAIN-DRIVEN DESIGN</a:t>
            </a:r>
            <a:endParaRPr lang="en-US" sz="1200" dirty="0"/>
          </a:p>
        </p:txBody>
      </p:sp>
      <p:sp>
        <p:nvSpPr>
          <p:cNvPr id="3" name="Text 1"/>
          <p:cNvSpPr txBox="1"/>
          <p:nvPr/>
        </p:nvSpPr>
        <p:spPr>
          <a:xfrm>
            <a:off x="640080" y="749808"/>
            <a:ext cx="10881360" cy="822960"/>
          </a:xfrm>
          <a:prstGeom prst="rect">
            <a:avLst/>
          </a:prstGeom>
          <a:noFill/>
          <a:ln/>
        </p:spPr>
        <p:txBody>
          <a:bodyPr wrap="square" lIns="0" tIns="0" rIns="0" bIns="0" rtlCol="0" anchor="ctr"/>
          <a:lstStyle/>
          <a:p>
            <a:pPr indent="0" marL="0">
              <a:buNone/>
            </a:pPr>
            <a:r>
              <a:rPr lang="en-US" sz="3400" b="1" dirty="0">
                <a:solidFill>
                  <a:srgbClr val="12414D"/>
                </a:solidFill>
                <a:latin typeface="Calibri" pitchFamily="34" charset="0"/>
                <a:ea typeface="Calibri" pitchFamily="34" charset="-122"/>
                <a:cs typeface="Calibri" pitchFamily="34" charset="-120"/>
              </a:rPr>
              <a:t>Linguagem ubíqua: uma só língua</a:t>
            </a:r>
            <a:endParaRPr lang="en-US" sz="3400" dirty="0"/>
          </a:p>
        </p:txBody>
      </p:sp>
      <p:sp>
        <p:nvSpPr>
          <p:cNvPr id="4" name="Text 2"/>
          <p:cNvSpPr txBox="1"/>
          <p:nvPr/>
        </p:nvSpPr>
        <p:spPr>
          <a:xfrm>
            <a:off x="640080" y="1783080"/>
            <a:ext cx="10881360" cy="822960"/>
          </a:xfrm>
          <a:prstGeom prst="rect">
            <a:avLst/>
          </a:prstGeom>
          <a:noFill/>
          <a:ln/>
        </p:spPr>
        <p:txBody>
          <a:bodyPr wrap="square" lIns="0" tIns="0" rIns="0" bIns="0" rtlCol="0" anchor="ctr"/>
          <a:lstStyle/>
          <a:p>
            <a:pPr indent="0" marL="0">
              <a:lnSpc>
                <a:spcPct val="110000"/>
              </a:lnSpc>
              <a:buNone/>
            </a:pPr>
            <a:r>
              <a:rPr lang="en-US" sz="1700" dirty="0">
                <a:solidFill>
                  <a:srgbClr val="5A6A72"/>
                </a:solidFill>
                <a:latin typeface="Calibri" pitchFamily="34" charset="0"/>
                <a:ea typeface="Calibri" pitchFamily="34" charset="-122"/>
                <a:cs typeface="Calibri" pitchFamily="34" charset="-120"/>
              </a:rPr>
              <a:t>Um vocabulário único, usado do negócio ao código. Se dizemos “liberar carga”, o código também tem uma operação “liberar” — nunca um genérico “atualizar status”.</a:t>
            </a:r>
            <a:endParaRPr lang="en-US" sz="1700" dirty="0"/>
          </a:p>
        </p:txBody>
      </p:sp>
      <p:sp>
        <p:nvSpPr>
          <p:cNvPr id="5" name="Shape 3"/>
          <p:cNvSpPr/>
          <p:nvPr/>
        </p:nvSpPr>
        <p:spPr>
          <a:xfrm>
            <a:off x="640080" y="2788920"/>
            <a:ext cx="5303520" cy="1051560"/>
          </a:xfrm>
          <a:prstGeom prst="roundRect">
            <a:avLst>
              <a:gd name="adj" fmla="val 7826"/>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6" name="Text 4"/>
          <p:cNvSpPr txBox="1"/>
          <p:nvPr/>
        </p:nvSpPr>
        <p:spPr>
          <a:xfrm>
            <a:off x="914400" y="2971800"/>
            <a:ext cx="4754880" cy="365760"/>
          </a:xfrm>
          <a:prstGeom prst="rect">
            <a:avLst/>
          </a:prstGeom>
          <a:noFill/>
          <a:ln/>
        </p:spPr>
        <p:txBody>
          <a:bodyPr wrap="square" lIns="0" tIns="0" rIns="0" bIns="0" rtlCol="0" anchor="ctr"/>
          <a:lstStyle/>
          <a:p>
            <a:pPr indent="0" marL="0">
              <a:buNone/>
            </a:pPr>
            <a:r>
              <a:rPr lang="en-US" sz="1600" b="1" dirty="0">
                <a:solidFill>
                  <a:srgbClr val="12414D"/>
                </a:solidFill>
                <a:latin typeface="Calibri" pitchFamily="34" charset="0"/>
                <a:ea typeface="Calibri" pitchFamily="34" charset="-122"/>
                <a:cs typeface="Calibri" pitchFamily="34" charset="-120"/>
              </a:rPr>
              <a:t>Carga Química</a:t>
            </a:r>
            <a:endParaRPr lang="en-US" sz="1600" dirty="0"/>
          </a:p>
        </p:txBody>
      </p:sp>
      <p:sp>
        <p:nvSpPr>
          <p:cNvPr id="7" name="Text 5"/>
          <p:cNvSpPr txBox="1"/>
          <p:nvPr/>
        </p:nvSpPr>
        <p:spPr>
          <a:xfrm>
            <a:off x="914400" y="3355848"/>
            <a:ext cx="4754880" cy="365760"/>
          </a:xfrm>
          <a:prstGeom prst="rect">
            <a:avLst/>
          </a:prstGeom>
          <a:noFill/>
          <a:ln/>
        </p:spPr>
        <p:txBody>
          <a:bodyPr wrap="square" lIns="0" tIns="0" rIns="0" bIns="0" rtlCol="0" anchor="ctr"/>
          <a:lstStyle/>
          <a:p>
            <a:pPr indent="0" marL="0">
              <a:buNone/>
            </a:pPr>
            <a:r>
              <a:rPr lang="en-US" sz="1300" dirty="0">
                <a:solidFill>
                  <a:srgbClr val="5A6A72"/>
                </a:solidFill>
                <a:latin typeface="Calibri" pitchFamily="34" charset="0"/>
                <a:ea typeface="Calibri" pitchFamily="34" charset="-122"/>
                <a:cs typeface="Calibri" pitchFamily="34" charset="-120"/>
              </a:rPr>
              <a:t>o elemento central do sistema</a:t>
            </a:r>
            <a:endParaRPr lang="en-US" sz="1300" dirty="0"/>
          </a:p>
        </p:txBody>
      </p:sp>
      <p:sp>
        <p:nvSpPr>
          <p:cNvPr id="8" name="Shape 6"/>
          <p:cNvSpPr/>
          <p:nvPr/>
        </p:nvSpPr>
        <p:spPr>
          <a:xfrm>
            <a:off x="6217920" y="2788920"/>
            <a:ext cx="5303520" cy="1051560"/>
          </a:xfrm>
          <a:prstGeom prst="roundRect">
            <a:avLst>
              <a:gd name="adj" fmla="val 7826"/>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9" name="Text 7"/>
          <p:cNvSpPr txBox="1"/>
          <p:nvPr/>
        </p:nvSpPr>
        <p:spPr>
          <a:xfrm>
            <a:off x="6492240" y="2971800"/>
            <a:ext cx="4754880" cy="365760"/>
          </a:xfrm>
          <a:prstGeom prst="rect">
            <a:avLst/>
          </a:prstGeom>
          <a:noFill/>
          <a:ln/>
        </p:spPr>
        <p:txBody>
          <a:bodyPr wrap="square" lIns="0" tIns="0" rIns="0" bIns="0" rtlCol="0" anchor="ctr"/>
          <a:lstStyle/>
          <a:p>
            <a:pPr indent="0" marL="0">
              <a:buNone/>
            </a:pPr>
            <a:r>
              <a:rPr lang="en-US" sz="1600" b="1" dirty="0">
                <a:solidFill>
                  <a:srgbClr val="12414D"/>
                </a:solidFill>
                <a:latin typeface="Calibri" pitchFamily="34" charset="0"/>
                <a:ea typeface="Calibri" pitchFamily="34" charset="-122"/>
                <a:cs typeface="Calibri" pitchFamily="34" charset="-120"/>
              </a:rPr>
              <a:t>Produto Químico</a:t>
            </a:r>
            <a:endParaRPr lang="en-US" sz="1600" dirty="0"/>
          </a:p>
        </p:txBody>
      </p:sp>
      <p:sp>
        <p:nvSpPr>
          <p:cNvPr id="10" name="Text 8"/>
          <p:cNvSpPr txBox="1"/>
          <p:nvPr/>
        </p:nvSpPr>
        <p:spPr>
          <a:xfrm>
            <a:off x="6492240" y="3355848"/>
            <a:ext cx="4754880" cy="365760"/>
          </a:xfrm>
          <a:prstGeom prst="rect">
            <a:avLst/>
          </a:prstGeom>
          <a:noFill/>
          <a:ln/>
        </p:spPr>
        <p:txBody>
          <a:bodyPr wrap="square" lIns="0" tIns="0" rIns="0" bIns="0" rtlCol="0" anchor="ctr"/>
          <a:lstStyle/>
          <a:p>
            <a:pPr indent="0" marL="0">
              <a:buNone/>
            </a:pPr>
            <a:r>
              <a:rPr lang="en-US" sz="1300" dirty="0">
                <a:solidFill>
                  <a:srgbClr val="5A6A72"/>
                </a:solidFill>
                <a:latin typeface="Calibri" pitchFamily="34" charset="0"/>
                <a:ea typeface="Calibri" pitchFamily="34" charset="-122"/>
                <a:cs typeface="Calibri" pitchFamily="34" charset="-120"/>
              </a:rPr>
              <a:t>substância cadastrada (ativa/inativa)</a:t>
            </a:r>
            <a:endParaRPr lang="en-US" sz="1300" dirty="0"/>
          </a:p>
        </p:txBody>
      </p:sp>
      <p:sp>
        <p:nvSpPr>
          <p:cNvPr id="11" name="Shape 9"/>
          <p:cNvSpPr/>
          <p:nvPr/>
        </p:nvSpPr>
        <p:spPr>
          <a:xfrm>
            <a:off x="640080" y="4069080"/>
            <a:ext cx="5303520" cy="1051560"/>
          </a:xfrm>
          <a:prstGeom prst="roundRect">
            <a:avLst>
              <a:gd name="adj" fmla="val 7826"/>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12" name="Text 10"/>
          <p:cNvSpPr txBox="1"/>
          <p:nvPr/>
        </p:nvSpPr>
        <p:spPr>
          <a:xfrm>
            <a:off x="914400" y="4251960"/>
            <a:ext cx="4754880" cy="365760"/>
          </a:xfrm>
          <a:prstGeom prst="rect">
            <a:avLst/>
          </a:prstGeom>
          <a:noFill/>
          <a:ln/>
        </p:spPr>
        <p:txBody>
          <a:bodyPr wrap="square" lIns="0" tIns="0" rIns="0" bIns="0" rtlCol="0" anchor="ctr"/>
          <a:lstStyle/>
          <a:p>
            <a:pPr indent="0" marL="0">
              <a:buNone/>
            </a:pPr>
            <a:r>
              <a:rPr lang="en-US" sz="1600" b="1" dirty="0">
                <a:solidFill>
                  <a:srgbClr val="12414D"/>
                </a:solidFill>
                <a:latin typeface="Calibri" pitchFamily="34" charset="0"/>
                <a:ea typeface="Calibri" pitchFamily="34" charset="-122"/>
                <a:cs typeface="Calibri" pitchFamily="34" charset="-120"/>
              </a:rPr>
              <a:t>Classe de Risco</a:t>
            </a:r>
            <a:endParaRPr lang="en-US" sz="1600" dirty="0"/>
          </a:p>
        </p:txBody>
      </p:sp>
      <p:sp>
        <p:nvSpPr>
          <p:cNvPr id="13" name="Text 11"/>
          <p:cNvSpPr txBox="1"/>
          <p:nvPr/>
        </p:nvSpPr>
        <p:spPr>
          <a:xfrm>
            <a:off x="914400" y="4636008"/>
            <a:ext cx="4754880" cy="365760"/>
          </a:xfrm>
          <a:prstGeom prst="rect">
            <a:avLst/>
          </a:prstGeom>
          <a:noFill/>
          <a:ln/>
        </p:spPr>
        <p:txBody>
          <a:bodyPr wrap="square" lIns="0" tIns="0" rIns="0" bIns="0" rtlCol="0" anchor="ctr"/>
          <a:lstStyle/>
          <a:p>
            <a:pPr indent="0" marL="0">
              <a:buNone/>
            </a:pPr>
            <a:r>
              <a:rPr lang="en-US" sz="1300" dirty="0">
                <a:solidFill>
                  <a:srgbClr val="5A6A72"/>
                </a:solidFill>
                <a:latin typeface="Calibri" pitchFamily="34" charset="0"/>
                <a:ea typeface="Calibri" pitchFamily="34" charset="-122"/>
                <a:cs typeface="Calibri" pitchFamily="34" charset="-120"/>
              </a:rPr>
              <a:t>periculosidade do produto</a:t>
            </a:r>
            <a:endParaRPr lang="en-US" sz="1300" dirty="0"/>
          </a:p>
        </p:txBody>
      </p:sp>
      <p:sp>
        <p:nvSpPr>
          <p:cNvPr id="14" name="Shape 12"/>
          <p:cNvSpPr/>
          <p:nvPr/>
        </p:nvSpPr>
        <p:spPr>
          <a:xfrm>
            <a:off x="6217920" y="4069080"/>
            <a:ext cx="5303520" cy="1051560"/>
          </a:xfrm>
          <a:prstGeom prst="roundRect">
            <a:avLst>
              <a:gd name="adj" fmla="val 7826"/>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15" name="Text 13"/>
          <p:cNvSpPr txBox="1"/>
          <p:nvPr/>
        </p:nvSpPr>
        <p:spPr>
          <a:xfrm>
            <a:off x="6492240" y="4251960"/>
            <a:ext cx="4754880" cy="365760"/>
          </a:xfrm>
          <a:prstGeom prst="rect">
            <a:avLst/>
          </a:prstGeom>
          <a:noFill/>
          <a:ln/>
        </p:spPr>
        <p:txBody>
          <a:bodyPr wrap="square" lIns="0" tIns="0" rIns="0" bIns="0" rtlCol="0" anchor="ctr"/>
          <a:lstStyle/>
          <a:p>
            <a:pPr indent="0" marL="0">
              <a:buNone/>
            </a:pPr>
            <a:r>
              <a:rPr lang="en-US" sz="1600" b="1" dirty="0">
                <a:solidFill>
                  <a:srgbClr val="12414D"/>
                </a:solidFill>
                <a:latin typeface="Calibri" pitchFamily="34" charset="0"/>
                <a:ea typeface="Calibri" pitchFamily="34" charset="-122"/>
                <a:cs typeface="Calibri" pitchFamily="34" charset="-120"/>
              </a:rPr>
              <a:t>Classificação de Risco</a:t>
            </a:r>
            <a:endParaRPr lang="en-US" sz="1600" dirty="0"/>
          </a:p>
        </p:txBody>
      </p:sp>
      <p:sp>
        <p:nvSpPr>
          <p:cNvPr id="16" name="Text 14"/>
          <p:cNvSpPr txBox="1"/>
          <p:nvPr/>
        </p:nvSpPr>
        <p:spPr>
          <a:xfrm>
            <a:off x="6492240" y="4636008"/>
            <a:ext cx="4754880" cy="365760"/>
          </a:xfrm>
          <a:prstGeom prst="rect">
            <a:avLst/>
          </a:prstGeom>
          <a:noFill/>
          <a:ln/>
        </p:spPr>
        <p:txBody>
          <a:bodyPr wrap="square" lIns="0" tIns="0" rIns="0" bIns="0" rtlCol="0" anchor="ctr"/>
          <a:lstStyle/>
          <a:p>
            <a:pPr indent="0" marL="0">
              <a:buNone/>
            </a:pPr>
            <a:r>
              <a:rPr lang="en-US" sz="1300" dirty="0">
                <a:solidFill>
                  <a:srgbClr val="5A6A72"/>
                </a:solidFill>
                <a:latin typeface="Calibri" pitchFamily="34" charset="0"/>
                <a:ea typeface="Calibri" pitchFamily="34" charset="-122"/>
                <a:cs typeface="Calibri" pitchFamily="34" charset="-120"/>
              </a:rPr>
              <a:t>risco da carga, derivado do produto</a:t>
            </a:r>
            <a:endParaRPr lang="en-US" sz="1300" dirty="0"/>
          </a:p>
        </p:txBody>
      </p:sp>
      <p:sp>
        <p:nvSpPr>
          <p:cNvPr id="17" name="Shape 15"/>
          <p:cNvSpPr/>
          <p:nvPr/>
        </p:nvSpPr>
        <p:spPr>
          <a:xfrm>
            <a:off x="640080" y="5349240"/>
            <a:ext cx="5303520" cy="1051560"/>
          </a:xfrm>
          <a:prstGeom prst="roundRect">
            <a:avLst>
              <a:gd name="adj" fmla="val 7826"/>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18" name="Text 16"/>
          <p:cNvSpPr txBox="1"/>
          <p:nvPr/>
        </p:nvSpPr>
        <p:spPr>
          <a:xfrm>
            <a:off x="914400" y="5532120"/>
            <a:ext cx="4754880" cy="365760"/>
          </a:xfrm>
          <a:prstGeom prst="rect">
            <a:avLst/>
          </a:prstGeom>
          <a:noFill/>
          <a:ln/>
        </p:spPr>
        <p:txBody>
          <a:bodyPr wrap="square" lIns="0" tIns="0" rIns="0" bIns="0" rtlCol="0" anchor="ctr"/>
          <a:lstStyle/>
          <a:p>
            <a:pPr indent="0" marL="0">
              <a:buNone/>
            </a:pPr>
            <a:r>
              <a:rPr lang="en-US" sz="1600" b="1" dirty="0">
                <a:solidFill>
                  <a:srgbClr val="12414D"/>
                </a:solidFill>
                <a:latin typeface="Calibri" pitchFamily="34" charset="0"/>
                <a:ea typeface="Calibri" pitchFamily="34" charset="-122"/>
                <a:cs typeface="Calibri" pitchFamily="34" charset="-120"/>
              </a:rPr>
              <a:t>Responsável Técnico</a:t>
            </a:r>
            <a:endParaRPr lang="en-US" sz="1600" dirty="0"/>
          </a:p>
        </p:txBody>
      </p:sp>
      <p:sp>
        <p:nvSpPr>
          <p:cNvPr id="19" name="Text 17"/>
          <p:cNvSpPr txBox="1"/>
          <p:nvPr/>
        </p:nvSpPr>
        <p:spPr>
          <a:xfrm>
            <a:off x="914400" y="5916168"/>
            <a:ext cx="4754880" cy="365760"/>
          </a:xfrm>
          <a:prstGeom prst="rect">
            <a:avLst/>
          </a:prstGeom>
          <a:noFill/>
          <a:ln/>
        </p:spPr>
        <p:txBody>
          <a:bodyPr wrap="square" lIns="0" tIns="0" rIns="0" bIns="0" rtlCol="0" anchor="ctr"/>
          <a:lstStyle/>
          <a:p>
            <a:pPr indent="0" marL="0">
              <a:buNone/>
            </a:pPr>
            <a:r>
              <a:rPr lang="en-US" sz="1300" dirty="0">
                <a:solidFill>
                  <a:srgbClr val="5A6A72"/>
                </a:solidFill>
                <a:latin typeface="Calibri" pitchFamily="34" charset="0"/>
                <a:ea typeface="Calibri" pitchFamily="34" charset="-122"/>
                <a:cs typeface="Calibri" pitchFamily="34" charset="-120"/>
              </a:rPr>
              <a:t>obrigatório em toda carga</a:t>
            </a:r>
            <a:endParaRPr lang="en-US" sz="1300" dirty="0"/>
          </a:p>
        </p:txBody>
      </p:sp>
      <p:sp>
        <p:nvSpPr>
          <p:cNvPr id="20" name="Shape 18"/>
          <p:cNvSpPr/>
          <p:nvPr/>
        </p:nvSpPr>
        <p:spPr>
          <a:xfrm>
            <a:off x="6217920" y="5349240"/>
            <a:ext cx="5303520" cy="1051560"/>
          </a:xfrm>
          <a:prstGeom prst="roundRect">
            <a:avLst>
              <a:gd name="adj" fmla="val 7826"/>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21" name="Text 19"/>
          <p:cNvSpPr txBox="1"/>
          <p:nvPr/>
        </p:nvSpPr>
        <p:spPr>
          <a:xfrm>
            <a:off x="6492240" y="5532120"/>
            <a:ext cx="4754880" cy="365760"/>
          </a:xfrm>
          <a:prstGeom prst="rect">
            <a:avLst/>
          </a:prstGeom>
          <a:noFill/>
          <a:ln/>
        </p:spPr>
        <p:txBody>
          <a:bodyPr wrap="square" lIns="0" tIns="0" rIns="0" bIns="0" rtlCol="0" anchor="ctr"/>
          <a:lstStyle/>
          <a:p>
            <a:pPr indent="0" marL="0">
              <a:buNone/>
            </a:pPr>
            <a:r>
              <a:rPr lang="en-US" sz="1600" b="1" dirty="0">
                <a:solidFill>
                  <a:srgbClr val="12414D"/>
                </a:solidFill>
                <a:latin typeface="Calibri" pitchFamily="34" charset="0"/>
                <a:ea typeface="Calibri" pitchFamily="34" charset="-122"/>
                <a:cs typeface="Calibri" pitchFamily="34" charset="-120"/>
              </a:rPr>
              <a:t>Liberar · Bloquear · Cancelar</a:t>
            </a:r>
            <a:endParaRPr lang="en-US" sz="1600" dirty="0"/>
          </a:p>
        </p:txBody>
      </p:sp>
      <p:sp>
        <p:nvSpPr>
          <p:cNvPr id="22" name="Text 20"/>
          <p:cNvSpPr txBox="1"/>
          <p:nvPr/>
        </p:nvSpPr>
        <p:spPr>
          <a:xfrm>
            <a:off x="6492240" y="5916168"/>
            <a:ext cx="4754880" cy="365760"/>
          </a:xfrm>
          <a:prstGeom prst="rect">
            <a:avLst/>
          </a:prstGeom>
          <a:noFill/>
          <a:ln/>
        </p:spPr>
        <p:txBody>
          <a:bodyPr wrap="square" lIns="0" tIns="0" rIns="0" bIns="0" rtlCol="0" anchor="ctr"/>
          <a:lstStyle/>
          <a:p>
            <a:pPr indent="0" marL="0">
              <a:buNone/>
            </a:pPr>
            <a:r>
              <a:rPr lang="en-US" sz="1300" dirty="0">
                <a:solidFill>
                  <a:srgbClr val="5A6A72"/>
                </a:solidFill>
                <a:latin typeface="Calibri" pitchFamily="34" charset="0"/>
                <a:ea typeface="Calibri" pitchFamily="34" charset="-122"/>
                <a:cs typeface="Calibri" pitchFamily="34" charset="-120"/>
              </a:rPr>
              <a:t>ações do ciclo de vida da carga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7"/>
        </a:solidFill>
      </p:bgPr>
    </p:bg>
    <p:spTree>
      <p:nvGrpSpPr>
        <p:cNvPr id="1" name=""/>
        <p:cNvGrpSpPr/>
        <p:nvPr/>
      </p:nvGrpSpPr>
      <p:grpSpPr>
        <a:xfrm>
          <a:off x="0" y="0"/>
          <a:ext cx="0" cy="0"/>
          <a:chOff x="0" y="0"/>
          <a:chExt cx="0" cy="0"/>
        </a:xfrm>
      </p:grpSpPr>
      <p:pic>
        <p:nvPicPr>
          <p:cNvPr id="2" name="Image 0" descr="img/dominio.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7"/>
        </a:solidFill>
      </p:bgPr>
    </p:bg>
    <p:spTree>
      <p:nvGrpSpPr>
        <p:cNvPr id="1" name=""/>
        <p:cNvGrpSpPr/>
        <p:nvPr/>
      </p:nvGrpSpPr>
      <p:grpSpPr>
        <a:xfrm>
          <a:off x="0" y="0"/>
          <a:ext cx="0" cy="0"/>
          <a:chOff x="0" y="0"/>
          <a:chExt cx="0" cy="0"/>
        </a:xfrm>
      </p:grpSpPr>
      <p:pic>
        <p:nvPicPr>
          <p:cNvPr id="2" name="Image 0" descr="img/casos-uso.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E6E7E"/>
                </a:solidFill>
                <a:latin typeface="Calibri" pitchFamily="34" charset="0"/>
                <a:ea typeface="Calibri" pitchFamily="34" charset="-122"/>
                <a:cs typeface="Calibri" pitchFamily="34" charset="-120"/>
              </a:rPr>
              <a:t>REGRAS DE NEGÓCIO</a:t>
            </a:r>
            <a:endParaRPr lang="en-US" sz="1200" dirty="0"/>
          </a:p>
        </p:txBody>
      </p:sp>
      <p:sp>
        <p:nvSpPr>
          <p:cNvPr id="3" name="Text 1"/>
          <p:cNvSpPr txBox="1"/>
          <p:nvPr/>
        </p:nvSpPr>
        <p:spPr>
          <a:xfrm>
            <a:off x="640080" y="749808"/>
            <a:ext cx="10881360" cy="822960"/>
          </a:xfrm>
          <a:prstGeom prst="rect">
            <a:avLst/>
          </a:prstGeom>
          <a:noFill/>
          <a:ln/>
        </p:spPr>
        <p:txBody>
          <a:bodyPr wrap="square" lIns="0" tIns="0" rIns="0" bIns="0" rtlCol="0" anchor="ctr"/>
          <a:lstStyle/>
          <a:p>
            <a:pPr indent="0" marL="0">
              <a:buNone/>
            </a:pPr>
            <a:r>
              <a:rPr lang="en-US" sz="3400" b="1" dirty="0">
                <a:solidFill>
                  <a:srgbClr val="12414D"/>
                </a:solidFill>
                <a:latin typeface="Calibri" pitchFamily="34" charset="0"/>
                <a:ea typeface="Calibri" pitchFamily="34" charset="-122"/>
                <a:cs typeface="Calibri" pitchFamily="34" charset="-120"/>
              </a:rPr>
              <a:t>Onde cada regra mora</a:t>
            </a:r>
            <a:endParaRPr lang="en-US" sz="3400" dirty="0"/>
          </a:p>
        </p:txBody>
      </p:sp>
      <p:sp>
        <p:nvSpPr>
          <p:cNvPr id="4" name="Shape 2"/>
          <p:cNvSpPr/>
          <p:nvPr/>
        </p:nvSpPr>
        <p:spPr>
          <a:xfrm>
            <a:off x="640080" y="1920240"/>
            <a:ext cx="3502152" cy="2743200"/>
          </a:xfrm>
          <a:prstGeom prst="roundRect">
            <a:avLst>
              <a:gd name="adj" fmla="val 3000"/>
            </a:avLst>
          </a:prstGeom>
          <a:solidFill>
            <a:srgbClr val="EFEAF7"/>
          </a:solidFill>
          <a:ln w="12700">
            <a:solidFill>
              <a:srgbClr val="E0D7EE"/>
            </a:solidFill>
            <a:prstDash val="solid"/>
          </a:ln>
          <a:effectLst>
            <a:outerShdw sx="100000" sy="100000" kx="0" ky="0" algn="bl" rotWithShape="0" blurRad="76200" dist="25400" dir="5400000">
              <a:srgbClr val="9AA7AD">
                <a:alpha val="35000"/>
              </a:srgbClr>
            </a:outerShdw>
          </a:effectLst>
        </p:spPr>
      </p:sp>
      <p:sp>
        <p:nvSpPr>
          <p:cNvPr id="5" name="Text 3"/>
          <p:cNvSpPr txBox="1"/>
          <p:nvPr/>
        </p:nvSpPr>
        <p:spPr>
          <a:xfrm>
            <a:off x="914400" y="2240280"/>
            <a:ext cx="2953512" cy="457200"/>
          </a:xfrm>
          <a:prstGeom prst="rect">
            <a:avLst/>
          </a:prstGeom>
          <a:noFill/>
          <a:ln/>
        </p:spPr>
        <p:txBody>
          <a:bodyPr wrap="square" lIns="0" tIns="0" rIns="0" bIns="0" rtlCol="0" anchor="ctr"/>
          <a:lstStyle/>
          <a:p>
            <a:pPr indent="0" marL="0">
              <a:buNone/>
            </a:pPr>
            <a:r>
              <a:rPr lang="en-US" sz="1900" b="1" dirty="0">
                <a:solidFill>
                  <a:srgbClr val="6E5FA3"/>
                </a:solidFill>
                <a:latin typeface="Calibri" pitchFamily="34" charset="0"/>
                <a:ea typeface="Calibri" pitchFamily="34" charset="-122"/>
                <a:cs typeface="Calibri" pitchFamily="34" charset="-120"/>
              </a:rPr>
              <a:t>Objeto de Valor</a:t>
            </a:r>
            <a:endParaRPr lang="en-US" sz="1900" dirty="0"/>
          </a:p>
        </p:txBody>
      </p:sp>
      <p:sp>
        <p:nvSpPr>
          <p:cNvPr id="6" name="Text 4"/>
          <p:cNvSpPr txBox="1"/>
          <p:nvPr/>
        </p:nvSpPr>
        <p:spPr>
          <a:xfrm>
            <a:off x="914400" y="2880360"/>
            <a:ext cx="2953512" cy="548640"/>
          </a:xfrm>
          <a:prstGeom prst="rect">
            <a:avLst/>
          </a:prstGeom>
          <a:noFill/>
          <a:ln/>
        </p:spPr>
        <p:txBody>
          <a:bodyPr wrap="square" lIns="0" tIns="0" rIns="0" bIns="0" rtlCol="0" anchor="ctr"/>
          <a:lstStyle/>
          <a:p>
            <a:pPr indent="0" marL="0">
              <a:buNone/>
            </a:pPr>
            <a:r>
              <a:rPr lang="en-US" sz="1500" b="1" dirty="0">
                <a:solidFill>
                  <a:srgbClr val="1F2A30"/>
                </a:solidFill>
                <a:latin typeface="Calibri" pitchFamily="34" charset="0"/>
                <a:ea typeface="Calibri" pitchFamily="34" charset="-122"/>
                <a:cs typeface="Calibri" pitchFamily="34" charset="-120"/>
              </a:rPr>
              <a:t>Depende só de um valor.</a:t>
            </a:r>
            <a:endParaRPr lang="en-US" sz="1500" dirty="0"/>
          </a:p>
        </p:txBody>
      </p:sp>
      <p:sp>
        <p:nvSpPr>
          <p:cNvPr id="7" name="Text 5"/>
          <p:cNvSpPr txBox="1"/>
          <p:nvPr/>
        </p:nvSpPr>
        <p:spPr>
          <a:xfrm>
            <a:off x="914400" y="3474720"/>
            <a:ext cx="2953512" cy="1005840"/>
          </a:xfrm>
          <a:prstGeom prst="rect">
            <a:avLst/>
          </a:prstGeom>
          <a:noFill/>
          <a:ln/>
        </p:spPr>
        <p:txBody>
          <a:bodyPr wrap="square" lIns="0" tIns="0" rIns="0" bIns="0" rtlCol="0" anchor="ctr"/>
          <a:lstStyle/>
          <a:p>
            <a:pPr indent="0" marL="0">
              <a:lnSpc>
                <a:spcPct val="110000"/>
              </a:lnSpc>
              <a:buNone/>
            </a:pPr>
            <a:r>
              <a:rPr lang="en-US" sz="1350" dirty="0">
                <a:solidFill>
                  <a:srgbClr val="5A6A72"/>
                </a:solidFill>
                <a:latin typeface="Calibri" pitchFamily="34" charset="0"/>
                <a:ea typeface="Calibri" pitchFamily="34" charset="-122"/>
                <a:cs typeface="Calibri" pitchFamily="34" charset="-120"/>
              </a:rPr>
              <a:t>Ex.: quantidade &gt; 0 — o dado se recusa a nascer inválido.</a:t>
            </a:r>
            <a:endParaRPr lang="en-US" sz="1350" dirty="0"/>
          </a:p>
        </p:txBody>
      </p:sp>
      <p:sp>
        <p:nvSpPr>
          <p:cNvPr id="8" name="Shape 6"/>
          <p:cNvSpPr/>
          <p:nvPr/>
        </p:nvSpPr>
        <p:spPr>
          <a:xfrm>
            <a:off x="4416552" y="1920240"/>
            <a:ext cx="3502152" cy="2743200"/>
          </a:xfrm>
          <a:prstGeom prst="roundRect">
            <a:avLst>
              <a:gd name="adj" fmla="val 3000"/>
            </a:avLst>
          </a:prstGeom>
          <a:solidFill>
            <a:srgbClr val="E4EDEF"/>
          </a:solidFill>
          <a:ln w="12700">
            <a:solidFill>
              <a:srgbClr val="C9DADE"/>
            </a:solidFill>
            <a:prstDash val="solid"/>
          </a:ln>
          <a:effectLst>
            <a:outerShdw sx="100000" sy="100000" kx="0" ky="0" algn="bl" rotWithShape="0" blurRad="76200" dist="25400" dir="5400000">
              <a:srgbClr val="9AA7AD">
                <a:alpha val="35000"/>
              </a:srgbClr>
            </a:outerShdw>
          </a:effectLst>
        </p:spPr>
      </p:sp>
      <p:sp>
        <p:nvSpPr>
          <p:cNvPr id="9" name="Text 7"/>
          <p:cNvSpPr txBox="1"/>
          <p:nvPr/>
        </p:nvSpPr>
        <p:spPr>
          <a:xfrm>
            <a:off x="4690872" y="2240280"/>
            <a:ext cx="2953512" cy="457200"/>
          </a:xfrm>
          <a:prstGeom prst="rect">
            <a:avLst/>
          </a:prstGeom>
          <a:noFill/>
          <a:ln/>
        </p:spPr>
        <p:txBody>
          <a:bodyPr wrap="square" lIns="0" tIns="0" rIns="0" bIns="0" rtlCol="0" anchor="ctr"/>
          <a:lstStyle/>
          <a:p>
            <a:pPr indent="0" marL="0">
              <a:buNone/>
            </a:pPr>
            <a:r>
              <a:rPr lang="en-US" sz="1900" b="1" dirty="0">
                <a:solidFill>
                  <a:srgbClr val="12414D"/>
                </a:solidFill>
                <a:latin typeface="Calibri" pitchFamily="34" charset="0"/>
                <a:ea typeface="Calibri" pitchFamily="34" charset="-122"/>
                <a:cs typeface="Calibri" pitchFamily="34" charset="-120"/>
              </a:rPr>
              <a:t>Agregado Carga</a:t>
            </a:r>
            <a:endParaRPr lang="en-US" sz="1900" dirty="0"/>
          </a:p>
        </p:txBody>
      </p:sp>
      <p:sp>
        <p:nvSpPr>
          <p:cNvPr id="10" name="Text 8"/>
          <p:cNvSpPr txBox="1"/>
          <p:nvPr/>
        </p:nvSpPr>
        <p:spPr>
          <a:xfrm>
            <a:off x="4690872" y="2880360"/>
            <a:ext cx="2953512" cy="548640"/>
          </a:xfrm>
          <a:prstGeom prst="rect">
            <a:avLst/>
          </a:prstGeom>
          <a:noFill/>
          <a:ln/>
        </p:spPr>
        <p:txBody>
          <a:bodyPr wrap="square" lIns="0" tIns="0" rIns="0" bIns="0" rtlCol="0" anchor="ctr"/>
          <a:lstStyle/>
          <a:p>
            <a:pPr indent="0" marL="0">
              <a:buNone/>
            </a:pPr>
            <a:r>
              <a:rPr lang="en-US" sz="1500" b="1" dirty="0">
                <a:solidFill>
                  <a:srgbClr val="1F2A30"/>
                </a:solidFill>
                <a:latin typeface="Calibri" pitchFamily="34" charset="0"/>
                <a:ea typeface="Calibri" pitchFamily="34" charset="-122"/>
                <a:cs typeface="Calibri" pitchFamily="34" charset="-120"/>
              </a:rPr>
              <a:t>Depende do estado da carga.</a:t>
            </a:r>
            <a:endParaRPr lang="en-US" sz="1500" dirty="0"/>
          </a:p>
        </p:txBody>
      </p:sp>
      <p:sp>
        <p:nvSpPr>
          <p:cNvPr id="11" name="Text 9"/>
          <p:cNvSpPr txBox="1"/>
          <p:nvPr/>
        </p:nvSpPr>
        <p:spPr>
          <a:xfrm>
            <a:off x="4690872" y="3474720"/>
            <a:ext cx="2953512" cy="1005840"/>
          </a:xfrm>
          <a:prstGeom prst="rect">
            <a:avLst/>
          </a:prstGeom>
          <a:noFill/>
          <a:ln/>
        </p:spPr>
        <p:txBody>
          <a:bodyPr wrap="square" lIns="0" tIns="0" rIns="0" bIns="0" rtlCol="0" anchor="ctr"/>
          <a:lstStyle/>
          <a:p>
            <a:pPr indent="0" marL="0">
              <a:lnSpc>
                <a:spcPct val="110000"/>
              </a:lnSpc>
              <a:buNone/>
            </a:pPr>
            <a:r>
              <a:rPr lang="en-US" sz="1350" dirty="0">
                <a:solidFill>
                  <a:srgbClr val="5A6A72"/>
                </a:solidFill>
                <a:latin typeface="Calibri" pitchFamily="34" charset="0"/>
                <a:ea typeface="Calibri" pitchFamily="34" charset="-122"/>
                <a:cs typeface="Calibri" pitchFamily="34" charset="-120"/>
              </a:rPr>
              <a:t>Ex.: só liberar com documentação válida; cancelada não volta.</a:t>
            </a:r>
            <a:endParaRPr lang="en-US" sz="1350" dirty="0"/>
          </a:p>
        </p:txBody>
      </p:sp>
      <p:sp>
        <p:nvSpPr>
          <p:cNvPr id="12" name="Shape 10"/>
          <p:cNvSpPr/>
          <p:nvPr/>
        </p:nvSpPr>
        <p:spPr>
          <a:xfrm>
            <a:off x="8193024" y="1920240"/>
            <a:ext cx="3502152" cy="2743200"/>
          </a:xfrm>
          <a:prstGeom prst="roundRect">
            <a:avLst>
              <a:gd name="adj" fmla="val 3000"/>
            </a:avLst>
          </a:prstGeom>
          <a:solidFill>
            <a:srgbClr val="E9F1F1"/>
          </a:solidFill>
          <a:ln w="12700">
            <a:solidFill>
              <a:srgbClr val="CBE0E1"/>
            </a:solidFill>
            <a:prstDash val="solid"/>
          </a:ln>
          <a:effectLst>
            <a:outerShdw sx="100000" sy="100000" kx="0" ky="0" algn="bl" rotWithShape="0" blurRad="76200" dist="25400" dir="5400000">
              <a:srgbClr val="9AA7AD">
                <a:alpha val="35000"/>
              </a:srgbClr>
            </a:outerShdw>
          </a:effectLst>
        </p:spPr>
      </p:sp>
      <p:sp>
        <p:nvSpPr>
          <p:cNvPr id="13" name="Text 11"/>
          <p:cNvSpPr txBox="1"/>
          <p:nvPr/>
        </p:nvSpPr>
        <p:spPr>
          <a:xfrm>
            <a:off x="8467344" y="2240280"/>
            <a:ext cx="2953512" cy="457200"/>
          </a:xfrm>
          <a:prstGeom prst="rect">
            <a:avLst/>
          </a:prstGeom>
          <a:noFill/>
          <a:ln/>
        </p:spPr>
        <p:txBody>
          <a:bodyPr wrap="square" lIns="0" tIns="0" rIns="0" bIns="0" rtlCol="0" anchor="ctr"/>
          <a:lstStyle/>
          <a:p>
            <a:pPr indent="0" marL="0">
              <a:buNone/>
            </a:pPr>
            <a:r>
              <a:rPr lang="en-US" sz="1900" b="1" dirty="0">
                <a:solidFill>
                  <a:srgbClr val="2E6E7E"/>
                </a:solidFill>
                <a:latin typeface="Calibri" pitchFamily="34" charset="0"/>
                <a:ea typeface="Calibri" pitchFamily="34" charset="-122"/>
                <a:cs typeface="Calibri" pitchFamily="34" charset="-120"/>
              </a:rPr>
              <a:t>Caso de Uso</a:t>
            </a:r>
            <a:endParaRPr lang="en-US" sz="1900" dirty="0"/>
          </a:p>
        </p:txBody>
      </p:sp>
      <p:sp>
        <p:nvSpPr>
          <p:cNvPr id="14" name="Text 12"/>
          <p:cNvSpPr txBox="1"/>
          <p:nvPr/>
        </p:nvSpPr>
        <p:spPr>
          <a:xfrm>
            <a:off x="8467344" y="2880360"/>
            <a:ext cx="2953512" cy="548640"/>
          </a:xfrm>
          <a:prstGeom prst="rect">
            <a:avLst/>
          </a:prstGeom>
          <a:noFill/>
          <a:ln/>
        </p:spPr>
        <p:txBody>
          <a:bodyPr wrap="square" lIns="0" tIns="0" rIns="0" bIns="0" rtlCol="0" anchor="ctr"/>
          <a:lstStyle/>
          <a:p>
            <a:pPr indent="0" marL="0">
              <a:buNone/>
            </a:pPr>
            <a:r>
              <a:rPr lang="en-US" sz="1500" b="1" dirty="0">
                <a:solidFill>
                  <a:srgbClr val="1F2A30"/>
                </a:solidFill>
                <a:latin typeface="Calibri" pitchFamily="34" charset="0"/>
                <a:ea typeface="Calibri" pitchFamily="34" charset="-122"/>
                <a:cs typeface="Calibri" pitchFamily="34" charset="-120"/>
              </a:rPr>
              <a:t>Cruza mais de um agregado.</a:t>
            </a:r>
            <a:endParaRPr lang="en-US" sz="1500" dirty="0"/>
          </a:p>
        </p:txBody>
      </p:sp>
      <p:sp>
        <p:nvSpPr>
          <p:cNvPr id="15" name="Text 13"/>
          <p:cNvSpPr txBox="1"/>
          <p:nvPr/>
        </p:nvSpPr>
        <p:spPr>
          <a:xfrm>
            <a:off x="8467344" y="3474720"/>
            <a:ext cx="2953512" cy="1005840"/>
          </a:xfrm>
          <a:prstGeom prst="rect">
            <a:avLst/>
          </a:prstGeom>
          <a:noFill/>
          <a:ln/>
        </p:spPr>
        <p:txBody>
          <a:bodyPr wrap="square" lIns="0" tIns="0" rIns="0" bIns="0" rtlCol="0" anchor="ctr"/>
          <a:lstStyle/>
          <a:p>
            <a:pPr indent="0" marL="0">
              <a:lnSpc>
                <a:spcPct val="110000"/>
              </a:lnSpc>
              <a:buNone/>
            </a:pPr>
            <a:r>
              <a:rPr lang="en-US" sz="1350" dirty="0">
                <a:solidFill>
                  <a:srgbClr val="5A6A72"/>
                </a:solidFill>
                <a:latin typeface="Calibri" pitchFamily="34" charset="0"/>
                <a:ea typeface="Calibri" pitchFamily="34" charset="-122"/>
                <a:cs typeface="Calibri" pitchFamily="34" charset="-120"/>
              </a:rPr>
              <a:t>Ex.: não registrar carga com produto inativo — busca o produto.</a:t>
            </a:r>
            <a:endParaRPr lang="en-US" sz="1350" dirty="0"/>
          </a:p>
        </p:txBody>
      </p:sp>
      <p:sp>
        <p:nvSpPr>
          <p:cNvPr id="16" name="Text 14"/>
          <p:cNvSpPr txBox="1"/>
          <p:nvPr/>
        </p:nvSpPr>
        <p:spPr>
          <a:xfrm>
            <a:off x="640080" y="4983480"/>
            <a:ext cx="10881360" cy="548640"/>
          </a:xfrm>
          <a:prstGeom prst="rect">
            <a:avLst/>
          </a:prstGeom>
          <a:noFill/>
          <a:ln/>
        </p:spPr>
        <p:txBody>
          <a:bodyPr wrap="square" lIns="0" tIns="0" rIns="0" bIns="0" rtlCol="0" anchor="ctr"/>
          <a:lstStyle/>
          <a:p>
            <a:pPr algn="ctr" indent="0" marL="0">
              <a:buNone/>
            </a:pPr>
            <a:r>
              <a:rPr lang="en-US" sz="1600" b="1" i="1" dirty="0">
                <a:solidFill>
                  <a:srgbClr val="12414D"/>
                </a:solidFill>
                <a:latin typeface="Calibri" pitchFamily="34" charset="0"/>
                <a:ea typeface="Calibri" pitchFamily="34" charset="-122"/>
                <a:cs typeface="Calibri" pitchFamily="34" charset="-120"/>
              </a:rPr>
              <a:t>Precisou buscar outro agregado?  É caso de uso.  Se olha só um dado ou uma carga, é domínio.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7"/>
        </a:solidFill>
      </p:bgPr>
    </p:bg>
    <p:spTree>
      <p:nvGrpSpPr>
        <p:cNvPr id="1" name=""/>
        <p:cNvGrpSpPr/>
        <p:nvPr/>
      </p:nvGrpSpPr>
      <p:grpSpPr>
        <a:xfrm>
          <a:off x="0" y="0"/>
          <a:ext cx="0" cy="0"/>
          <a:chOff x="0" y="0"/>
          <a:chExt cx="0" cy="0"/>
        </a:xfrm>
      </p:grpSpPr>
      <p:pic>
        <p:nvPicPr>
          <p:cNvPr id="2" name="Image 0" descr="img/arquitetura.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E6E7E"/>
                </a:solidFill>
                <a:latin typeface="Calibri" pitchFamily="34" charset="0"/>
                <a:ea typeface="Calibri" pitchFamily="34" charset="-122"/>
                <a:cs typeface="Calibri" pitchFamily="34" charset="-120"/>
              </a:rPr>
              <a:t>TYPESCRIPT E JAVASCRIPT AVANÇADO</a:t>
            </a:r>
            <a:endParaRPr lang="en-US" sz="1200" dirty="0"/>
          </a:p>
        </p:txBody>
      </p:sp>
      <p:sp>
        <p:nvSpPr>
          <p:cNvPr id="3" name="Text 1"/>
          <p:cNvSpPr txBox="1"/>
          <p:nvPr/>
        </p:nvSpPr>
        <p:spPr>
          <a:xfrm>
            <a:off x="640080" y="749808"/>
            <a:ext cx="10881360" cy="822960"/>
          </a:xfrm>
          <a:prstGeom prst="rect">
            <a:avLst/>
          </a:prstGeom>
          <a:noFill/>
          <a:ln/>
        </p:spPr>
        <p:txBody>
          <a:bodyPr wrap="square" lIns="0" tIns="0" rIns="0" bIns="0" rtlCol="0" anchor="ctr"/>
          <a:lstStyle/>
          <a:p>
            <a:pPr indent="0" marL="0">
              <a:buNone/>
            </a:pPr>
            <a:r>
              <a:rPr lang="en-US" sz="3400" b="1" dirty="0">
                <a:solidFill>
                  <a:srgbClr val="12414D"/>
                </a:solidFill>
                <a:latin typeface="Calibri" pitchFamily="34" charset="0"/>
                <a:ea typeface="Calibri" pitchFamily="34" charset="-122"/>
                <a:cs typeface="Calibri" pitchFamily="34" charset="-120"/>
              </a:rPr>
              <a:t>Decisões de linguagem</a:t>
            </a:r>
            <a:endParaRPr lang="en-US" sz="3400" dirty="0"/>
          </a:p>
        </p:txBody>
      </p:sp>
      <p:sp>
        <p:nvSpPr>
          <p:cNvPr id="4" name="Shape 2"/>
          <p:cNvSpPr/>
          <p:nvPr/>
        </p:nvSpPr>
        <p:spPr>
          <a:xfrm>
            <a:off x="640080" y="1965960"/>
            <a:ext cx="5303520" cy="1600200"/>
          </a:xfrm>
          <a:prstGeom prst="roundRect">
            <a:avLst>
              <a:gd name="adj" fmla="val 5143"/>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5" name="Shape 3"/>
          <p:cNvSpPr/>
          <p:nvPr/>
        </p:nvSpPr>
        <p:spPr>
          <a:xfrm>
            <a:off x="914400" y="2258568"/>
            <a:ext cx="201168" cy="201168"/>
          </a:xfrm>
          <a:prstGeom prst="roundRect">
            <a:avLst>
              <a:gd name="adj" fmla="val 18182"/>
            </a:avLst>
          </a:prstGeom>
          <a:solidFill>
            <a:srgbClr val="2E6E7E"/>
          </a:solidFill>
          <a:ln w="12700">
            <a:solidFill>
              <a:srgbClr val="2E6E7E"/>
            </a:solidFill>
            <a:prstDash val="solid"/>
          </a:ln>
        </p:spPr>
      </p:sp>
      <p:sp>
        <p:nvSpPr>
          <p:cNvPr id="6" name="Text 4"/>
          <p:cNvSpPr txBox="1"/>
          <p:nvPr/>
        </p:nvSpPr>
        <p:spPr>
          <a:xfrm>
            <a:off x="1280160" y="2203704"/>
            <a:ext cx="4389120" cy="457200"/>
          </a:xfrm>
          <a:prstGeom prst="rect">
            <a:avLst/>
          </a:prstGeom>
          <a:noFill/>
          <a:ln/>
        </p:spPr>
        <p:txBody>
          <a:bodyPr wrap="square" lIns="0" tIns="0" rIns="0" bIns="0" rtlCol="0" anchor="ctr"/>
          <a:lstStyle/>
          <a:p>
            <a:pPr indent="0" marL="0">
              <a:buNone/>
            </a:pPr>
            <a:r>
              <a:rPr lang="en-US" sz="1800" b="1" dirty="0">
                <a:solidFill>
                  <a:srgbClr val="12414D"/>
                </a:solidFill>
                <a:latin typeface="Calibri" pitchFamily="34" charset="0"/>
                <a:ea typeface="Calibri" pitchFamily="34" charset="-122"/>
                <a:cs typeface="Calibri" pitchFamily="34" charset="-120"/>
              </a:rPr>
              <a:t>Tipagem forte</a:t>
            </a:r>
            <a:endParaRPr lang="en-US" sz="1800" dirty="0"/>
          </a:p>
        </p:txBody>
      </p:sp>
      <p:sp>
        <p:nvSpPr>
          <p:cNvPr id="7" name="Text 5"/>
          <p:cNvSpPr txBox="1"/>
          <p:nvPr/>
        </p:nvSpPr>
        <p:spPr>
          <a:xfrm>
            <a:off x="1280160" y="2697480"/>
            <a:ext cx="4389120" cy="731520"/>
          </a:xfrm>
          <a:prstGeom prst="rect">
            <a:avLst/>
          </a:prstGeom>
          <a:noFill/>
          <a:ln/>
        </p:spPr>
        <p:txBody>
          <a:bodyPr wrap="square" lIns="0" tIns="0" rIns="0" bIns="0" rtlCol="0" anchor="ctr"/>
          <a:lstStyle/>
          <a:p>
            <a:pPr indent="0" marL="0">
              <a:lnSpc>
                <a:spcPct val="110000"/>
              </a:lnSpc>
              <a:buNone/>
            </a:pPr>
            <a:r>
              <a:rPr lang="en-US" sz="1450" dirty="0">
                <a:solidFill>
                  <a:srgbClr val="5A6A72"/>
                </a:solidFill>
                <a:latin typeface="Calibri" pitchFamily="34" charset="0"/>
                <a:ea typeface="Calibri" pitchFamily="34" charset="-122"/>
                <a:cs typeface="Calibri" pitchFamily="34" charset="-120"/>
              </a:rPr>
              <a:t>Erros detectados na escrita, não em produção.</a:t>
            </a:r>
            <a:endParaRPr lang="en-US" sz="1450" dirty="0"/>
          </a:p>
        </p:txBody>
      </p:sp>
      <p:sp>
        <p:nvSpPr>
          <p:cNvPr id="8" name="Shape 6"/>
          <p:cNvSpPr/>
          <p:nvPr/>
        </p:nvSpPr>
        <p:spPr>
          <a:xfrm>
            <a:off x="6217920" y="1965960"/>
            <a:ext cx="5303520" cy="1600200"/>
          </a:xfrm>
          <a:prstGeom prst="roundRect">
            <a:avLst>
              <a:gd name="adj" fmla="val 5143"/>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9" name="Shape 7"/>
          <p:cNvSpPr/>
          <p:nvPr/>
        </p:nvSpPr>
        <p:spPr>
          <a:xfrm>
            <a:off x="6492240" y="2258568"/>
            <a:ext cx="201168" cy="201168"/>
          </a:xfrm>
          <a:prstGeom prst="roundRect">
            <a:avLst>
              <a:gd name="adj" fmla="val 18182"/>
            </a:avLst>
          </a:prstGeom>
          <a:solidFill>
            <a:srgbClr val="2E6E7E"/>
          </a:solidFill>
          <a:ln w="12700">
            <a:solidFill>
              <a:srgbClr val="2E6E7E"/>
            </a:solidFill>
            <a:prstDash val="solid"/>
          </a:ln>
        </p:spPr>
      </p:sp>
      <p:sp>
        <p:nvSpPr>
          <p:cNvPr id="10" name="Text 8"/>
          <p:cNvSpPr txBox="1"/>
          <p:nvPr/>
        </p:nvSpPr>
        <p:spPr>
          <a:xfrm>
            <a:off x="6858000" y="2203704"/>
            <a:ext cx="4389120" cy="457200"/>
          </a:xfrm>
          <a:prstGeom prst="rect">
            <a:avLst/>
          </a:prstGeom>
          <a:noFill/>
          <a:ln/>
        </p:spPr>
        <p:txBody>
          <a:bodyPr wrap="square" lIns="0" tIns="0" rIns="0" bIns="0" rtlCol="0" anchor="ctr"/>
          <a:lstStyle/>
          <a:p>
            <a:pPr indent="0" marL="0">
              <a:buNone/>
            </a:pPr>
            <a:r>
              <a:rPr lang="en-US" sz="1800" b="1" dirty="0">
                <a:solidFill>
                  <a:srgbClr val="12414D"/>
                </a:solidFill>
                <a:latin typeface="Calibri" pitchFamily="34" charset="0"/>
                <a:ea typeface="Calibri" pitchFamily="34" charset="-122"/>
                <a:cs typeface="Calibri" pitchFamily="34" charset="-120"/>
              </a:rPr>
              <a:t>Enums</a:t>
            </a:r>
            <a:endParaRPr lang="en-US" sz="1800" dirty="0"/>
          </a:p>
        </p:txBody>
      </p:sp>
      <p:sp>
        <p:nvSpPr>
          <p:cNvPr id="11" name="Text 9"/>
          <p:cNvSpPr txBox="1"/>
          <p:nvPr/>
        </p:nvSpPr>
        <p:spPr>
          <a:xfrm>
            <a:off x="6858000" y="2697480"/>
            <a:ext cx="4389120" cy="731520"/>
          </a:xfrm>
          <a:prstGeom prst="rect">
            <a:avLst/>
          </a:prstGeom>
          <a:noFill/>
          <a:ln/>
        </p:spPr>
        <p:txBody>
          <a:bodyPr wrap="square" lIns="0" tIns="0" rIns="0" bIns="0" rtlCol="0" anchor="ctr"/>
          <a:lstStyle/>
          <a:p>
            <a:pPr indent="0" marL="0">
              <a:lnSpc>
                <a:spcPct val="110000"/>
              </a:lnSpc>
              <a:buNone/>
            </a:pPr>
            <a:r>
              <a:rPr lang="en-US" sz="1450" dirty="0">
                <a:solidFill>
                  <a:srgbClr val="5A6A72"/>
                </a:solidFill>
                <a:latin typeface="Calibri" pitchFamily="34" charset="0"/>
                <a:ea typeface="Calibri" pitchFamily="34" charset="-122"/>
                <a:cs typeface="Calibri" pitchFamily="34" charset="-120"/>
              </a:rPr>
              <a:t>Conjuntos fixos (status, classes de risco) sem valores inválidos.</a:t>
            </a:r>
            <a:endParaRPr lang="en-US" sz="1450" dirty="0"/>
          </a:p>
        </p:txBody>
      </p:sp>
      <p:sp>
        <p:nvSpPr>
          <p:cNvPr id="12" name="Shape 10"/>
          <p:cNvSpPr/>
          <p:nvPr/>
        </p:nvSpPr>
        <p:spPr>
          <a:xfrm>
            <a:off x="640080" y="3840480"/>
            <a:ext cx="5303520" cy="1600200"/>
          </a:xfrm>
          <a:prstGeom prst="roundRect">
            <a:avLst>
              <a:gd name="adj" fmla="val 5143"/>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13" name="Shape 11"/>
          <p:cNvSpPr/>
          <p:nvPr/>
        </p:nvSpPr>
        <p:spPr>
          <a:xfrm>
            <a:off x="914400" y="4133088"/>
            <a:ext cx="201168" cy="201168"/>
          </a:xfrm>
          <a:prstGeom prst="roundRect">
            <a:avLst>
              <a:gd name="adj" fmla="val 18182"/>
            </a:avLst>
          </a:prstGeom>
          <a:solidFill>
            <a:srgbClr val="2E6E7E"/>
          </a:solidFill>
          <a:ln w="12700">
            <a:solidFill>
              <a:srgbClr val="2E6E7E"/>
            </a:solidFill>
            <a:prstDash val="solid"/>
          </a:ln>
        </p:spPr>
      </p:sp>
      <p:sp>
        <p:nvSpPr>
          <p:cNvPr id="14" name="Text 12"/>
          <p:cNvSpPr txBox="1"/>
          <p:nvPr/>
        </p:nvSpPr>
        <p:spPr>
          <a:xfrm>
            <a:off x="1280160" y="4078224"/>
            <a:ext cx="4389120" cy="457200"/>
          </a:xfrm>
          <a:prstGeom prst="rect">
            <a:avLst/>
          </a:prstGeom>
          <a:noFill/>
          <a:ln/>
        </p:spPr>
        <p:txBody>
          <a:bodyPr wrap="square" lIns="0" tIns="0" rIns="0" bIns="0" rtlCol="0" anchor="ctr"/>
          <a:lstStyle/>
          <a:p>
            <a:pPr indent="0" marL="0">
              <a:buNone/>
            </a:pPr>
            <a:r>
              <a:rPr lang="en-US" sz="1800" b="1" dirty="0">
                <a:solidFill>
                  <a:srgbClr val="12414D"/>
                </a:solidFill>
                <a:latin typeface="Calibri" pitchFamily="34" charset="0"/>
                <a:ea typeface="Calibri" pitchFamily="34" charset="-122"/>
                <a:cs typeface="Calibri" pitchFamily="34" charset="-120"/>
              </a:rPr>
              <a:t>Objetos de valor imutáveis</a:t>
            </a:r>
            <a:endParaRPr lang="en-US" sz="1800" dirty="0"/>
          </a:p>
        </p:txBody>
      </p:sp>
      <p:sp>
        <p:nvSpPr>
          <p:cNvPr id="15" name="Text 13"/>
          <p:cNvSpPr txBox="1"/>
          <p:nvPr/>
        </p:nvSpPr>
        <p:spPr>
          <a:xfrm>
            <a:off x="1280160" y="4572000"/>
            <a:ext cx="4389120" cy="731520"/>
          </a:xfrm>
          <a:prstGeom prst="rect">
            <a:avLst/>
          </a:prstGeom>
          <a:noFill/>
          <a:ln/>
        </p:spPr>
        <p:txBody>
          <a:bodyPr wrap="square" lIns="0" tIns="0" rIns="0" bIns="0" rtlCol="0" anchor="ctr"/>
          <a:lstStyle/>
          <a:p>
            <a:pPr indent="0" marL="0">
              <a:lnSpc>
                <a:spcPct val="110000"/>
              </a:lnSpc>
              <a:buNone/>
            </a:pPr>
            <a:r>
              <a:rPr lang="en-US" sz="1450" dirty="0">
                <a:solidFill>
                  <a:srgbClr val="5A6A72"/>
                </a:solidFill>
                <a:latin typeface="Calibri" pitchFamily="34" charset="0"/>
                <a:ea typeface="Calibri" pitchFamily="34" charset="-122"/>
                <a:cs typeface="Calibri" pitchFamily="34" charset="-120"/>
              </a:rPr>
              <a:t>Autovalidáveis — a Quantidade não nasce inválida.</a:t>
            </a:r>
            <a:endParaRPr lang="en-US" sz="1450" dirty="0"/>
          </a:p>
        </p:txBody>
      </p:sp>
      <p:sp>
        <p:nvSpPr>
          <p:cNvPr id="16" name="Shape 14"/>
          <p:cNvSpPr/>
          <p:nvPr/>
        </p:nvSpPr>
        <p:spPr>
          <a:xfrm>
            <a:off x="6217920" y="3840480"/>
            <a:ext cx="5303520" cy="1600200"/>
          </a:xfrm>
          <a:prstGeom prst="roundRect">
            <a:avLst>
              <a:gd name="adj" fmla="val 5143"/>
            </a:avLst>
          </a:prstGeom>
          <a:solidFill>
            <a:srgbClr val="FFFFFF"/>
          </a:solidFill>
          <a:ln w="12700">
            <a:solidFill>
              <a:srgbClr val="D5DEE1"/>
            </a:solidFill>
            <a:prstDash val="solid"/>
          </a:ln>
          <a:effectLst>
            <a:outerShdw sx="100000" sy="100000" kx="0" ky="0" algn="bl" rotWithShape="0" blurRad="76200" dist="25400" dir="5400000">
              <a:srgbClr val="9AA7AD">
                <a:alpha val="35000"/>
              </a:srgbClr>
            </a:outerShdw>
          </a:effectLst>
        </p:spPr>
      </p:sp>
      <p:sp>
        <p:nvSpPr>
          <p:cNvPr id="17" name="Shape 15"/>
          <p:cNvSpPr/>
          <p:nvPr/>
        </p:nvSpPr>
        <p:spPr>
          <a:xfrm>
            <a:off x="6492240" y="4133088"/>
            <a:ext cx="201168" cy="201168"/>
          </a:xfrm>
          <a:prstGeom prst="roundRect">
            <a:avLst>
              <a:gd name="adj" fmla="val 18182"/>
            </a:avLst>
          </a:prstGeom>
          <a:solidFill>
            <a:srgbClr val="2E6E7E"/>
          </a:solidFill>
          <a:ln w="12700">
            <a:solidFill>
              <a:srgbClr val="2E6E7E"/>
            </a:solidFill>
            <a:prstDash val="solid"/>
          </a:ln>
        </p:spPr>
      </p:sp>
      <p:sp>
        <p:nvSpPr>
          <p:cNvPr id="18" name="Text 16"/>
          <p:cNvSpPr txBox="1"/>
          <p:nvPr/>
        </p:nvSpPr>
        <p:spPr>
          <a:xfrm>
            <a:off x="6858000" y="4078224"/>
            <a:ext cx="4389120" cy="457200"/>
          </a:xfrm>
          <a:prstGeom prst="rect">
            <a:avLst/>
          </a:prstGeom>
          <a:noFill/>
          <a:ln/>
        </p:spPr>
        <p:txBody>
          <a:bodyPr wrap="square" lIns="0" tIns="0" rIns="0" bIns="0" rtlCol="0" anchor="ctr"/>
          <a:lstStyle/>
          <a:p>
            <a:pPr indent="0" marL="0">
              <a:buNone/>
            </a:pPr>
            <a:r>
              <a:rPr lang="en-US" sz="1800" b="1" dirty="0">
                <a:solidFill>
                  <a:srgbClr val="12414D"/>
                </a:solidFill>
                <a:latin typeface="Calibri" pitchFamily="34" charset="0"/>
                <a:ea typeface="Calibri" pitchFamily="34" charset="-122"/>
                <a:cs typeface="Calibri" pitchFamily="34" charset="-120"/>
              </a:rPr>
              <a:t>Tratamento de erros com Result</a:t>
            </a:r>
            <a:endParaRPr lang="en-US" sz="1800" dirty="0"/>
          </a:p>
        </p:txBody>
      </p:sp>
      <p:sp>
        <p:nvSpPr>
          <p:cNvPr id="19" name="Text 17"/>
          <p:cNvSpPr txBox="1"/>
          <p:nvPr/>
        </p:nvSpPr>
        <p:spPr>
          <a:xfrm>
            <a:off x="6858000" y="4572000"/>
            <a:ext cx="4389120" cy="731520"/>
          </a:xfrm>
          <a:prstGeom prst="rect">
            <a:avLst/>
          </a:prstGeom>
          <a:noFill/>
          <a:ln/>
        </p:spPr>
        <p:txBody>
          <a:bodyPr wrap="square" lIns="0" tIns="0" rIns="0" bIns="0" rtlCol="0" anchor="ctr"/>
          <a:lstStyle/>
          <a:p>
            <a:pPr indent="0" marL="0">
              <a:lnSpc>
                <a:spcPct val="110000"/>
              </a:lnSpc>
              <a:buNone/>
            </a:pPr>
            <a:r>
              <a:rPr lang="en-US" sz="1450" dirty="0">
                <a:solidFill>
                  <a:srgbClr val="5A6A72"/>
                </a:solidFill>
                <a:latin typeface="Calibri" pitchFamily="34" charset="0"/>
                <a:ea typeface="Calibri" pitchFamily="34" charset="-122"/>
                <a:cs typeface="Calibri" pitchFamily="34" charset="-120"/>
              </a:rPr>
              <a:t>Falha de negócio explícita, separada da falha técnica.</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7"/>
        </a:solidFill>
      </p:bgPr>
    </p:bg>
    <p:spTree>
      <p:nvGrpSpPr>
        <p:cNvPr id="1" name=""/>
        <p:cNvGrpSpPr/>
        <p:nvPr/>
      </p:nvGrpSpPr>
      <p:grpSpPr>
        <a:xfrm>
          <a:off x="0" y="0"/>
          <a:ext cx="0" cy="0"/>
          <a:chOff x="0" y="0"/>
          <a:chExt cx="0" cy="0"/>
        </a:xfrm>
      </p:grpSpPr>
      <p:pic>
        <p:nvPicPr>
          <p:cNvPr id="2" name="Image 0" descr="img/status.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7"/>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274320"/>
          </a:xfrm>
          <a:prstGeom prst="rect">
            <a:avLst/>
          </a:prstGeom>
          <a:noFill/>
          <a:ln/>
        </p:spPr>
        <p:txBody>
          <a:bodyPr wrap="square" lIns="0" tIns="0" rIns="0" bIns="0" rtlCol="0" anchor="ctr"/>
          <a:lstStyle/>
          <a:p>
            <a:pPr indent="0" marL="0">
              <a:buNone/>
            </a:pPr>
            <a:r>
              <a:rPr lang="en-US" sz="1200" b="1" spc="300" kern="0" dirty="0">
                <a:solidFill>
                  <a:srgbClr val="2E6E7E"/>
                </a:solidFill>
                <a:latin typeface="Calibri" pitchFamily="34" charset="0"/>
                <a:ea typeface="Calibri" pitchFamily="34" charset="-122"/>
                <a:cs typeface="Calibri" pitchFamily="34" charset="-120"/>
              </a:rPr>
              <a:t>QUALIDADE DE SOFTWARE</a:t>
            </a:r>
            <a:endParaRPr lang="en-US" sz="1200" dirty="0"/>
          </a:p>
        </p:txBody>
      </p:sp>
      <p:sp>
        <p:nvSpPr>
          <p:cNvPr id="3" name="Text 1"/>
          <p:cNvSpPr txBox="1"/>
          <p:nvPr/>
        </p:nvSpPr>
        <p:spPr>
          <a:xfrm>
            <a:off x="640080" y="749808"/>
            <a:ext cx="10881360" cy="822960"/>
          </a:xfrm>
          <a:prstGeom prst="rect">
            <a:avLst/>
          </a:prstGeom>
          <a:noFill/>
          <a:ln/>
        </p:spPr>
        <p:txBody>
          <a:bodyPr wrap="square" lIns="0" tIns="0" rIns="0" bIns="0" rtlCol="0" anchor="ctr"/>
          <a:lstStyle/>
          <a:p>
            <a:pPr indent="0" marL="0">
              <a:buNone/>
            </a:pPr>
            <a:r>
              <a:rPr lang="en-US" sz="3400" b="1" dirty="0">
                <a:solidFill>
                  <a:srgbClr val="12414D"/>
                </a:solidFill>
                <a:latin typeface="Calibri" pitchFamily="34" charset="0"/>
                <a:ea typeface="Calibri" pitchFamily="34" charset="-122"/>
                <a:cs typeface="Calibri" pitchFamily="34" charset="-120"/>
              </a:rPr>
              <a:t>Estratégia de testes em pirâmide</a:t>
            </a:r>
            <a:endParaRPr lang="en-US" sz="3400" dirty="0"/>
          </a:p>
        </p:txBody>
      </p:sp>
      <p:sp>
        <p:nvSpPr>
          <p:cNvPr id="4" name="Shape 2"/>
          <p:cNvSpPr/>
          <p:nvPr/>
        </p:nvSpPr>
        <p:spPr>
          <a:xfrm>
            <a:off x="2468880" y="2011680"/>
            <a:ext cx="3657600" cy="868680"/>
          </a:xfrm>
          <a:prstGeom prst="roundRect">
            <a:avLst>
              <a:gd name="adj" fmla="val 6316"/>
            </a:avLst>
          </a:prstGeom>
          <a:solidFill>
            <a:srgbClr val="3E7D5A"/>
          </a:solidFill>
          <a:ln w="12700">
            <a:solidFill>
              <a:srgbClr val="3E7D5A"/>
            </a:solidFill>
            <a:prstDash val="solid"/>
          </a:ln>
        </p:spPr>
      </p:sp>
      <p:sp>
        <p:nvSpPr>
          <p:cNvPr id="5" name="Text 3"/>
          <p:cNvSpPr txBox="1"/>
          <p:nvPr/>
        </p:nvSpPr>
        <p:spPr>
          <a:xfrm>
            <a:off x="2468880" y="2011680"/>
            <a:ext cx="36576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Ponta a ponta (futuro)</a:t>
            </a:r>
            <a:endParaRPr lang="en-US" sz="1500" dirty="0"/>
          </a:p>
        </p:txBody>
      </p:sp>
      <p:sp>
        <p:nvSpPr>
          <p:cNvPr id="6" name="Shape 4"/>
          <p:cNvSpPr/>
          <p:nvPr/>
        </p:nvSpPr>
        <p:spPr>
          <a:xfrm>
            <a:off x="1554480" y="3017520"/>
            <a:ext cx="5486400" cy="868680"/>
          </a:xfrm>
          <a:prstGeom prst="roundRect">
            <a:avLst>
              <a:gd name="adj" fmla="val 6316"/>
            </a:avLst>
          </a:prstGeom>
          <a:solidFill>
            <a:srgbClr val="2E6E7E"/>
          </a:solidFill>
          <a:ln w="12700">
            <a:solidFill>
              <a:srgbClr val="2E6E7E"/>
            </a:solidFill>
            <a:prstDash val="solid"/>
          </a:ln>
        </p:spPr>
      </p:sp>
      <p:sp>
        <p:nvSpPr>
          <p:cNvPr id="7" name="Text 5"/>
          <p:cNvSpPr txBox="1"/>
          <p:nvPr/>
        </p:nvSpPr>
        <p:spPr>
          <a:xfrm>
            <a:off x="1554480" y="3017520"/>
            <a:ext cx="54864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Integração — casos de uso</a:t>
            </a:r>
            <a:endParaRPr lang="en-US" sz="1500" dirty="0"/>
          </a:p>
        </p:txBody>
      </p:sp>
      <p:sp>
        <p:nvSpPr>
          <p:cNvPr id="8" name="Shape 6"/>
          <p:cNvSpPr/>
          <p:nvPr/>
        </p:nvSpPr>
        <p:spPr>
          <a:xfrm>
            <a:off x="640080" y="4023360"/>
            <a:ext cx="7315200" cy="868680"/>
          </a:xfrm>
          <a:prstGeom prst="roundRect">
            <a:avLst>
              <a:gd name="adj" fmla="val 6316"/>
            </a:avLst>
          </a:prstGeom>
          <a:solidFill>
            <a:srgbClr val="12414D"/>
          </a:solidFill>
          <a:ln w="12700">
            <a:solidFill>
              <a:srgbClr val="12414D"/>
            </a:solidFill>
            <a:prstDash val="solid"/>
          </a:ln>
        </p:spPr>
      </p:sp>
      <p:sp>
        <p:nvSpPr>
          <p:cNvPr id="9" name="Text 7"/>
          <p:cNvSpPr txBox="1"/>
          <p:nvPr/>
        </p:nvSpPr>
        <p:spPr>
          <a:xfrm>
            <a:off x="640080" y="4023360"/>
            <a:ext cx="731520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Unitários — regras do domínio</a:t>
            </a:r>
            <a:endParaRPr lang="en-US" sz="1500" dirty="0"/>
          </a:p>
        </p:txBody>
      </p:sp>
      <p:sp>
        <p:nvSpPr>
          <p:cNvPr id="10" name="Shape 8"/>
          <p:cNvSpPr/>
          <p:nvPr/>
        </p:nvSpPr>
        <p:spPr>
          <a:xfrm>
            <a:off x="8321040" y="2011680"/>
            <a:ext cx="3200400" cy="2971800"/>
          </a:xfrm>
          <a:prstGeom prst="roundRect">
            <a:avLst>
              <a:gd name="adj" fmla="val 2769"/>
            </a:avLst>
          </a:prstGeom>
          <a:solidFill>
            <a:srgbClr val="EAF1F2"/>
          </a:solidFill>
          <a:ln w="12700">
            <a:solidFill>
              <a:srgbClr val="BCD3D8"/>
            </a:solidFill>
            <a:prstDash val="solid"/>
          </a:ln>
          <a:effectLst>
            <a:outerShdw sx="100000" sy="100000" kx="0" ky="0" algn="bl" rotWithShape="0" blurRad="76200" dist="25400" dir="5400000">
              <a:srgbClr val="9AA7AD">
                <a:alpha val="35000"/>
              </a:srgbClr>
            </a:outerShdw>
          </a:effectLst>
        </p:spPr>
      </p:sp>
      <p:sp>
        <p:nvSpPr>
          <p:cNvPr id="11" name="Text 9"/>
          <p:cNvSpPr txBox="1"/>
          <p:nvPr/>
        </p:nvSpPr>
        <p:spPr>
          <a:xfrm>
            <a:off x="8595360" y="2240280"/>
            <a:ext cx="2651760" cy="320040"/>
          </a:xfrm>
          <a:prstGeom prst="rect">
            <a:avLst/>
          </a:prstGeom>
          <a:noFill/>
          <a:ln/>
        </p:spPr>
        <p:txBody>
          <a:bodyPr wrap="square" lIns="0" tIns="0" rIns="0" bIns="0" rtlCol="0" anchor="ctr"/>
          <a:lstStyle/>
          <a:p>
            <a:pPr indent="0" marL="0">
              <a:buNone/>
            </a:pPr>
            <a:r>
              <a:rPr lang="en-US" sz="1200" b="1" spc="300" kern="0" dirty="0">
                <a:solidFill>
                  <a:srgbClr val="2E6E7E"/>
                </a:solidFill>
                <a:latin typeface="Calibri" pitchFamily="34" charset="0"/>
                <a:ea typeface="Calibri" pitchFamily="34" charset="-122"/>
                <a:cs typeface="Calibri" pitchFamily="34" charset="-120"/>
              </a:rPr>
              <a:t>PRIORIDADES</a:t>
            </a:r>
            <a:endParaRPr lang="en-US" sz="1200" dirty="0"/>
          </a:p>
        </p:txBody>
      </p:sp>
      <p:sp>
        <p:nvSpPr>
          <p:cNvPr id="12" name="Text 10"/>
          <p:cNvSpPr txBox="1"/>
          <p:nvPr/>
        </p:nvSpPr>
        <p:spPr>
          <a:xfrm>
            <a:off x="8595360" y="2606040"/>
            <a:ext cx="2651760" cy="228600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F2A30"/>
                </a:solidFill>
                <a:latin typeface="Calibri" pitchFamily="34" charset="0"/>
                <a:ea typeface="Calibri" pitchFamily="34" charset="-122"/>
                <a:cs typeface="Calibri" pitchFamily="34" charset="-120"/>
              </a:rPr>
              <a:t>Não liberar sem documentação</a:t>
            </a:r>
            <a:endParaRPr lang="en-US" sz="1350" dirty="0"/>
          </a:p>
          <a:p>
            <a:pPr marL="342900" indent="-342900">
              <a:spcAft>
                <a:spcPts val="800"/>
              </a:spcAft>
              <a:buSzPct val="100000"/>
              <a:buChar char="•"/>
            </a:pPr>
            <a:r>
              <a:rPr lang="en-US" sz="1350" dirty="0">
                <a:solidFill>
                  <a:srgbClr val="1F2A30"/>
                </a:solidFill>
                <a:latin typeface="Calibri" pitchFamily="34" charset="0"/>
                <a:ea typeface="Calibri" pitchFamily="34" charset="-122"/>
                <a:cs typeface="Calibri" pitchFamily="34" charset="-120"/>
              </a:rPr>
              <a:t>Não movimentar carga bloqueada</a:t>
            </a:r>
            <a:endParaRPr lang="en-US" sz="1350" dirty="0"/>
          </a:p>
          <a:p>
            <a:pPr marL="342900" indent="-342900">
              <a:spcAft>
                <a:spcPts val="800"/>
              </a:spcAft>
              <a:buSzPct val="100000"/>
              <a:buChar char="•"/>
            </a:pPr>
            <a:r>
              <a:rPr lang="en-US" sz="1350" dirty="0">
                <a:solidFill>
                  <a:srgbClr val="1F2A30"/>
                </a:solidFill>
                <a:latin typeface="Calibri" pitchFamily="34" charset="0"/>
                <a:ea typeface="Calibri" pitchFamily="34" charset="-122"/>
                <a:cs typeface="Calibri" pitchFamily="34" charset="-120"/>
              </a:rPr>
              <a:t>Quantidade &gt; 0</a:t>
            </a:r>
            <a:endParaRPr lang="en-US" sz="1350" dirty="0"/>
          </a:p>
          <a:p>
            <a:pPr marL="342900" indent="-342900">
              <a:buSzPct val="100000"/>
              <a:buChar char="•"/>
            </a:pPr>
            <a:r>
              <a:rPr lang="en-US" sz="1350" dirty="0">
                <a:solidFill>
                  <a:srgbClr val="1F2A30"/>
                </a:solidFill>
                <a:latin typeface="Calibri" pitchFamily="34" charset="0"/>
                <a:ea typeface="Calibri" pitchFamily="34" charset="-122"/>
                <a:cs typeface="Calibri" pitchFamily="34" charset="-120"/>
              </a:rPr>
              <a:t>Transições de status válidas</a:t>
            </a:r>
            <a:endParaRPr lang="en-US" sz="1350" dirty="0"/>
          </a:p>
        </p:txBody>
      </p:sp>
      <p:sp>
        <p:nvSpPr>
          <p:cNvPr id="13" name="Text 11"/>
          <p:cNvSpPr txBox="1"/>
          <p:nvPr/>
        </p:nvSpPr>
        <p:spPr>
          <a:xfrm>
            <a:off x="640080" y="5212080"/>
            <a:ext cx="7315200" cy="457200"/>
          </a:xfrm>
          <a:prstGeom prst="rect">
            <a:avLst/>
          </a:prstGeom>
          <a:noFill/>
          <a:ln/>
        </p:spPr>
        <p:txBody>
          <a:bodyPr wrap="square" lIns="0" tIns="0" rIns="0" bIns="0" rtlCol="0" anchor="ctr"/>
          <a:lstStyle/>
          <a:p>
            <a:pPr algn="ctr" indent="0" marL="0">
              <a:buNone/>
            </a:pPr>
            <a:r>
              <a:rPr lang="en-US" sz="1500" i="1" dirty="0">
                <a:solidFill>
                  <a:srgbClr val="5A6A72"/>
                </a:solidFill>
                <a:latin typeface="Calibri" pitchFamily="34" charset="0"/>
                <a:ea typeface="Calibri" pitchFamily="34" charset="-122"/>
                <a:cs typeface="Calibri" pitchFamily="34" charset="-120"/>
              </a:rPr>
              <a:t>Domínio isolado = testes rápidos e simples.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414D"/>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300" kern="0" dirty="0">
                <a:solidFill>
                  <a:srgbClr val="9FC3CC"/>
                </a:solidFill>
                <a:latin typeface="Calibri" pitchFamily="34" charset="0"/>
                <a:ea typeface="Calibri" pitchFamily="34" charset="-122"/>
                <a:cs typeface="Calibri" pitchFamily="34" charset="-120"/>
              </a:rPr>
              <a:t>ROADMAP DE EVOLUÇÃO</a:t>
            </a:r>
            <a:endParaRPr lang="en-US" sz="1300" dirty="0"/>
          </a:p>
        </p:txBody>
      </p:sp>
      <p:sp>
        <p:nvSpPr>
          <p:cNvPr id="3" name="Text 1"/>
          <p:cNvSpPr txBox="1"/>
          <p:nvPr/>
        </p:nvSpPr>
        <p:spPr>
          <a:xfrm>
            <a:off x="822960" y="96012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O núcleo desta fase sustenta as próximas</a:t>
            </a:r>
            <a:endParaRPr lang="en-US" sz="3200" dirty="0"/>
          </a:p>
        </p:txBody>
      </p:sp>
      <p:sp>
        <p:nvSpPr>
          <p:cNvPr id="4" name="Shape 2"/>
          <p:cNvSpPr/>
          <p:nvPr/>
        </p:nvSpPr>
        <p:spPr>
          <a:xfrm>
            <a:off x="822960" y="2286000"/>
            <a:ext cx="1965960" cy="1371600"/>
          </a:xfrm>
          <a:prstGeom prst="roundRect">
            <a:avLst>
              <a:gd name="adj" fmla="val 5333"/>
            </a:avLst>
          </a:prstGeom>
          <a:solidFill>
            <a:srgbClr val="2E6E7E"/>
          </a:solidFill>
          <a:ln w="12700">
            <a:solidFill>
              <a:srgbClr val="3C6E7A"/>
            </a:solidFill>
            <a:prstDash val="solid"/>
          </a:ln>
        </p:spPr>
      </p:sp>
      <p:sp>
        <p:nvSpPr>
          <p:cNvPr id="5" name="Text 3"/>
          <p:cNvSpPr txBox="1"/>
          <p:nvPr/>
        </p:nvSpPr>
        <p:spPr>
          <a:xfrm>
            <a:off x="822960" y="2286000"/>
            <a:ext cx="1965960" cy="13716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Fase 1</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Base técnica</a:t>
            </a:r>
            <a:endParaRPr lang="en-US" sz="1400" dirty="0"/>
          </a:p>
        </p:txBody>
      </p:sp>
      <p:sp>
        <p:nvSpPr>
          <p:cNvPr id="6" name="Text 4"/>
          <p:cNvSpPr txBox="1"/>
          <p:nvPr/>
        </p:nvSpPr>
        <p:spPr>
          <a:xfrm>
            <a:off x="2770632" y="2286000"/>
            <a:ext cx="256032" cy="1371600"/>
          </a:xfrm>
          <a:prstGeom prst="rect">
            <a:avLst/>
          </a:prstGeom>
          <a:noFill/>
          <a:ln/>
        </p:spPr>
        <p:txBody>
          <a:bodyPr wrap="square" lIns="0" tIns="0" rIns="0" bIns="0" rtlCol="0" anchor="ctr"/>
          <a:lstStyle/>
          <a:p>
            <a:pPr algn="ctr" indent="0" marL="0">
              <a:buNone/>
            </a:pPr>
            <a:r>
              <a:rPr lang="en-US" sz="2200" b="1" dirty="0">
                <a:solidFill>
                  <a:srgbClr val="7FB0BB"/>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3044952" y="2286000"/>
            <a:ext cx="1965960" cy="1371600"/>
          </a:xfrm>
          <a:prstGeom prst="roundRect">
            <a:avLst>
              <a:gd name="adj" fmla="val 5333"/>
            </a:avLst>
          </a:prstGeom>
          <a:solidFill>
            <a:srgbClr val="1B505E"/>
          </a:solidFill>
          <a:ln w="12700">
            <a:solidFill>
              <a:srgbClr val="3C6E7A"/>
            </a:solidFill>
            <a:prstDash val="solid"/>
          </a:ln>
        </p:spPr>
      </p:sp>
      <p:sp>
        <p:nvSpPr>
          <p:cNvPr id="8" name="Text 6"/>
          <p:cNvSpPr txBox="1"/>
          <p:nvPr/>
        </p:nvSpPr>
        <p:spPr>
          <a:xfrm>
            <a:off x="3044952" y="2286000"/>
            <a:ext cx="1965960" cy="13716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Implementação</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TS + testes</a:t>
            </a:r>
            <a:endParaRPr lang="en-US" sz="1400" dirty="0"/>
          </a:p>
        </p:txBody>
      </p:sp>
      <p:sp>
        <p:nvSpPr>
          <p:cNvPr id="9" name="Text 7"/>
          <p:cNvSpPr txBox="1"/>
          <p:nvPr/>
        </p:nvSpPr>
        <p:spPr>
          <a:xfrm>
            <a:off x="4992624" y="2286000"/>
            <a:ext cx="256032" cy="1371600"/>
          </a:xfrm>
          <a:prstGeom prst="rect">
            <a:avLst/>
          </a:prstGeom>
          <a:noFill/>
          <a:ln/>
        </p:spPr>
        <p:txBody>
          <a:bodyPr wrap="square" lIns="0" tIns="0" rIns="0" bIns="0" rtlCol="0" anchor="ctr"/>
          <a:lstStyle/>
          <a:p>
            <a:pPr algn="ctr" indent="0" marL="0">
              <a:buNone/>
            </a:pPr>
            <a:r>
              <a:rPr lang="en-US" sz="2200" b="1" dirty="0">
                <a:solidFill>
                  <a:srgbClr val="7FB0BB"/>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266944" y="2286000"/>
            <a:ext cx="1965960" cy="1371600"/>
          </a:xfrm>
          <a:prstGeom prst="roundRect">
            <a:avLst>
              <a:gd name="adj" fmla="val 5333"/>
            </a:avLst>
          </a:prstGeom>
          <a:solidFill>
            <a:srgbClr val="1B505E"/>
          </a:solidFill>
          <a:ln w="12700">
            <a:solidFill>
              <a:srgbClr val="3C6E7A"/>
            </a:solidFill>
            <a:prstDash val="solid"/>
          </a:ln>
        </p:spPr>
      </p:sp>
      <p:sp>
        <p:nvSpPr>
          <p:cNvPr id="11" name="Text 9"/>
          <p:cNvSpPr txBox="1"/>
          <p:nvPr/>
        </p:nvSpPr>
        <p:spPr>
          <a:xfrm>
            <a:off x="5266944" y="2286000"/>
            <a:ext cx="1965960" cy="13716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Backend</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API + banco</a:t>
            </a:r>
            <a:endParaRPr lang="en-US" sz="1400" dirty="0"/>
          </a:p>
        </p:txBody>
      </p:sp>
      <p:sp>
        <p:nvSpPr>
          <p:cNvPr id="12" name="Text 10"/>
          <p:cNvSpPr txBox="1"/>
          <p:nvPr/>
        </p:nvSpPr>
        <p:spPr>
          <a:xfrm>
            <a:off x="7214616" y="2286000"/>
            <a:ext cx="256032" cy="1371600"/>
          </a:xfrm>
          <a:prstGeom prst="rect">
            <a:avLst/>
          </a:prstGeom>
          <a:noFill/>
          <a:ln/>
        </p:spPr>
        <p:txBody>
          <a:bodyPr wrap="square" lIns="0" tIns="0" rIns="0" bIns="0" rtlCol="0" anchor="ctr"/>
          <a:lstStyle/>
          <a:p>
            <a:pPr algn="ctr" indent="0" marL="0">
              <a:buNone/>
            </a:pPr>
            <a:r>
              <a:rPr lang="en-US" sz="2200" b="1" dirty="0">
                <a:solidFill>
                  <a:srgbClr val="7FB0BB"/>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7488936" y="2286000"/>
            <a:ext cx="1965960" cy="1371600"/>
          </a:xfrm>
          <a:prstGeom prst="roundRect">
            <a:avLst>
              <a:gd name="adj" fmla="val 5333"/>
            </a:avLst>
          </a:prstGeom>
          <a:solidFill>
            <a:srgbClr val="1B505E"/>
          </a:solidFill>
          <a:ln w="12700">
            <a:solidFill>
              <a:srgbClr val="3C6E7A"/>
            </a:solidFill>
            <a:prstDash val="solid"/>
          </a:ln>
        </p:spPr>
      </p:sp>
      <p:sp>
        <p:nvSpPr>
          <p:cNvPr id="14" name="Text 12"/>
          <p:cNvSpPr txBox="1"/>
          <p:nvPr/>
        </p:nvSpPr>
        <p:spPr>
          <a:xfrm>
            <a:off x="7488936" y="2286000"/>
            <a:ext cx="1965960" cy="13716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Frontend</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web</a:t>
            </a:r>
            <a:endParaRPr lang="en-US" sz="1400" dirty="0"/>
          </a:p>
        </p:txBody>
      </p:sp>
      <p:sp>
        <p:nvSpPr>
          <p:cNvPr id="15" name="Text 13"/>
          <p:cNvSpPr txBox="1"/>
          <p:nvPr/>
        </p:nvSpPr>
        <p:spPr>
          <a:xfrm>
            <a:off x="9436608" y="2286000"/>
            <a:ext cx="256032" cy="1371600"/>
          </a:xfrm>
          <a:prstGeom prst="rect">
            <a:avLst/>
          </a:prstGeom>
          <a:noFill/>
          <a:ln/>
        </p:spPr>
        <p:txBody>
          <a:bodyPr wrap="square" lIns="0" tIns="0" rIns="0" bIns="0" rtlCol="0" anchor="ctr"/>
          <a:lstStyle/>
          <a:p>
            <a:pPr algn="ctr" indent="0" marL="0">
              <a:buNone/>
            </a:pPr>
            <a:r>
              <a:rPr lang="en-US" sz="2200" b="1" dirty="0">
                <a:solidFill>
                  <a:srgbClr val="7FB0BB"/>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710928" y="2286000"/>
            <a:ext cx="1965960" cy="1371600"/>
          </a:xfrm>
          <a:prstGeom prst="roundRect">
            <a:avLst>
              <a:gd name="adj" fmla="val 5333"/>
            </a:avLst>
          </a:prstGeom>
          <a:solidFill>
            <a:srgbClr val="1B505E"/>
          </a:solidFill>
          <a:ln w="12700">
            <a:solidFill>
              <a:srgbClr val="3C6E7A"/>
            </a:solidFill>
            <a:prstDash val="solid"/>
          </a:ln>
        </p:spPr>
      </p:sp>
      <p:sp>
        <p:nvSpPr>
          <p:cNvPr id="17" name="Text 15"/>
          <p:cNvSpPr txBox="1"/>
          <p:nvPr/>
        </p:nvSpPr>
        <p:spPr>
          <a:xfrm>
            <a:off x="9710928" y="2286000"/>
            <a:ext cx="1965960" cy="13716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Mobile 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microsserviços</a:t>
            </a:r>
            <a:endParaRPr lang="en-US" sz="1400" dirty="0"/>
          </a:p>
        </p:txBody>
      </p:sp>
      <p:sp>
        <p:nvSpPr>
          <p:cNvPr id="18" name="Text 16"/>
          <p:cNvSpPr txBox="1"/>
          <p:nvPr/>
        </p:nvSpPr>
        <p:spPr>
          <a:xfrm>
            <a:off x="822960" y="4114800"/>
            <a:ext cx="10515600" cy="548640"/>
          </a:xfrm>
          <a:prstGeom prst="rect">
            <a:avLst/>
          </a:prstGeom>
          <a:noFill/>
          <a:ln/>
        </p:spPr>
        <p:txBody>
          <a:bodyPr wrap="square" lIns="0" tIns="0" rIns="0" bIns="0" rtlCol="0" anchor="ctr"/>
          <a:lstStyle/>
          <a:p>
            <a:pPr indent="0" marL="0">
              <a:buNone/>
            </a:pPr>
            <a:r>
              <a:rPr lang="en-US" sz="1700" dirty="0">
                <a:solidFill>
                  <a:srgbClr val="CFE0E4"/>
                </a:solidFill>
                <a:latin typeface="Calibri" pitchFamily="34" charset="0"/>
                <a:ea typeface="Calibri" pitchFamily="34" charset="-122"/>
                <a:cs typeface="Calibri" pitchFamily="34" charset="-120"/>
              </a:rPr>
              <a:t>Do problema real do porto até uma solução full stack consistente e evolutiva.</a:t>
            </a:r>
            <a:endParaRPr lang="en-US" sz="1700" dirty="0"/>
          </a:p>
        </p:txBody>
      </p:sp>
      <p:sp>
        <p:nvSpPr>
          <p:cNvPr id="19" name="Text 17"/>
          <p:cNvSpPr txBox="1"/>
          <p:nvPr/>
        </p:nvSpPr>
        <p:spPr>
          <a:xfrm>
            <a:off x="822960" y="502920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Obrigado!</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QuimiPort — Proposta Técnica (Fase 1)</dc:title>
  <dc:subject>PptxGenJS Presentation</dc:subject>
  <dc:creator>QuimiPort</dc:creator>
  <cp:lastModifiedBy>QuimiPort</cp:lastModifiedBy>
  <cp:revision>1</cp:revision>
  <dcterms:created xsi:type="dcterms:W3CDTF">2026-08-31T22:59:53Z</dcterms:created>
  <dcterms:modified xsi:type="dcterms:W3CDTF">2026-08-31T22:59:53Z</dcterms:modified>
</cp:coreProperties>
</file>